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y="5143500" cx="9144000"/>
  <p:notesSz cx="6858000" cy="9144000"/>
  <p:embeddedFontLst>
    <p:embeddedFont>
      <p:font typeface="Raleway"/>
      <p:regular r:id="rId32"/>
      <p:bold r:id="rId33"/>
      <p:italic r:id="rId34"/>
      <p:boldItalic r:id="rId35"/>
    </p:embeddedFont>
    <p:embeddedFont>
      <p:font typeface="Lato"/>
      <p:regular r:id="rId36"/>
      <p:bold r:id="rId37"/>
      <p:italic r:id="rId38"/>
      <p:boldItalic r:id="rId39"/>
    </p:embeddedFont>
    <p:embeddedFont>
      <p:font typeface="Oswald"/>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C7D9F3-D756-43D8-8C55-0EA22D93012E}">
  <a:tblStyle styleId="{FBC7D9F3-D756-43D8-8C55-0EA22D93012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swald-regular.fntdata"/><Relationship Id="rId20" Type="http://schemas.openxmlformats.org/officeDocument/2006/relationships/slide" Target="slides/slide13.xml"/><Relationship Id="rId41" Type="http://schemas.openxmlformats.org/officeDocument/2006/relationships/font" Target="fonts/Oswald-bold.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Raleway-bold.fntdata"/><Relationship Id="rId10" Type="http://schemas.openxmlformats.org/officeDocument/2006/relationships/slide" Target="slides/slide3.xml"/><Relationship Id="rId32" Type="http://schemas.openxmlformats.org/officeDocument/2006/relationships/font" Target="fonts/Raleway-regular.fntdata"/><Relationship Id="rId13" Type="http://schemas.openxmlformats.org/officeDocument/2006/relationships/slide" Target="slides/slide6.xml"/><Relationship Id="rId35" Type="http://schemas.openxmlformats.org/officeDocument/2006/relationships/font" Target="fonts/Raleway-boldItalic.fntdata"/><Relationship Id="rId12" Type="http://schemas.openxmlformats.org/officeDocument/2006/relationships/slide" Target="slides/slide5.xml"/><Relationship Id="rId34" Type="http://schemas.openxmlformats.org/officeDocument/2006/relationships/font" Target="fonts/Raleway-italic.fntdata"/><Relationship Id="rId15" Type="http://schemas.openxmlformats.org/officeDocument/2006/relationships/slide" Target="slides/slide8.xml"/><Relationship Id="rId37" Type="http://schemas.openxmlformats.org/officeDocument/2006/relationships/font" Target="fonts/Lato-bold.fntdata"/><Relationship Id="rId14" Type="http://schemas.openxmlformats.org/officeDocument/2006/relationships/slide" Target="slides/slide7.xml"/><Relationship Id="rId36" Type="http://schemas.openxmlformats.org/officeDocument/2006/relationships/font" Target="fonts/Lato-regular.fntdata"/><Relationship Id="rId17" Type="http://schemas.openxmlformats.org/officeDocument/2006/relationships/slide" Target="slides/slide10.xml"/><Relationship Id="rId39" Type="http://schemas.openxmlformats.org/officeDocument/2006/relationships/font" Target="fonts/Lato-boldItalic.fntdata"/><Relationship Id="rId16" Type="http://schemas.openxmlformats.org/officeDocument/2006/relationships/slide" Target="slides/slide9.xml"/><Relationship Id="rId38" Type="http://schemas.openxmlformats.org/officeDocument/2006/relationships/font" Target="fonts/Lato-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1a360c937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g31a360c9374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1a360c9374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g31a360c9374_0_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1d5beae2d6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g31d5beae2d6_0_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1d5beae2d6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g31d5beae2d6_0_10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1d2d502882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g31d2d502882_0_9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1d5beae2d6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g31d5beae2d6_0_2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1d5beae2d6_0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g31d5beae2d6_0_19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1d2d502882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g31d2d502882_0_4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1d2d502882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g31d2d502882_0_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1d2d502882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g31d2d502882_0_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1d2d502882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1d2d502882_0_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1d2d502882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g31d2d502882_0_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1d2d502882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g31d2d502882_0_7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1d2d502882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g31d2d502882_0_8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d6a280ea91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g2d6a280ea91_0_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d6a280ea91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g2d6a280ea91_0_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d6a280ea91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g2d6a280ea91_0_3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d6a280ea91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g2d6a280ea91_0_5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d6a7e974c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g2d6a7e974cb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d6a7e974cb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g2d6a7e974cb_0_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d6a7e974cb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3" name="Google Shape;343;g2d6a7e974cb_0_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d6a280ea91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3" name="Google Shape;353;g2d6a280ea91_0_7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1d2d502882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6" name="Google Shape;366;g31d2d502882_0_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54" name="Shape 54"/>
        <p:cNvGrpSpPr/>
        <p:nvPr/>
      </p:nvGrpSpPr>
      <p:grpSpPr>
        <a:xfrm>
          <a:off x="0" y="0"/>
          <a:ext cx="0" cy="0"/>
          <a:chOff x="0" y="0"/>
          <a:chExt cx="0" cy="0"/>
        </a:xfrm>
      </p:grpSpPr>
      <p:sp>
        <p:nvSpPr>
          <p:cNvPr id="55" name="Google Shape;55;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 name="Google Shape;56;p14"/>
          <p:cNvGrpSpPr/>
          <p:nvPr/>
        </p:nvGrpSpPr>
        <p:grpSpPr>
          <a:xfrm>
            <a:off x="830392" y="1191256"/>
            <a:ext cx="745763" cy="45826"/>
            <a:chOff x="4580561" y="2589004"/>
            <a:chExt cx="1064464" cy="25200"/>
          </a:xfrm>
        </p:grpSpPr>
        <p:sp>
          <p:nvSpPr>
            <p:cNvPr id="57" name="Google Shape;57;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60" name="Google Shape;60;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1" name="Google Shape;61;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62" name="Shape 62"/>
        <p:cNvGrpSpPr/>
        <p:nvPr/>
      </p:nvGrpSpPr>
      <p:grpSpPr>
        <a:xfrm>
          <a:off x="0" y="0"/>
          <a:ext cx="0" cy="0"/>
          <a:chOff x="0" y="0"/>
          <a:chExt cx="0" cy="0"/>
        </a:xfrm>
      </p:grpSpPr>
      <p:grpSp>
        <p:nvGrpSpPr>
          <p:cNvPr id="63" name="Google Shape;63;p15"/>
          <p:cNvGrpSpPr/>
          <p:nvPr/>
        </p:nvGrpSpPr>
        <p:grpSpPr>
          <a:xfrm>
            <a:off x="830392" y="1191256"/>
            <a:ext cx="745763" cy="45826"/>
            <a:chOff x="4580561" y="2589004"/>
            <a:chExt cx="1064464" cy="25200"/>
          </a:xfrm>
        </p:grpSpPr>
        <p:sp>
          <p:nvSpPr>
            <p:cNvPr id="64" name="Google Shape;64;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1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7" name="Google Shape;67;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8" name="Shape 68"/>
        <p:cNvGrpSpPr/>
        <p:nvPr/>
      </p:nvGrpSpPr>
      <p:grpSpPr>
        <a:xfrm>
          <a:off x="0" y="0"/>
          <a:ext cx="0" cy="0"/>
          <a:chOff x="0" y="0"/>
          <a:chExt cx="0" cy="0"/>
        </a:xfrm>
      </p:grpSpPr>
      <p:sp>
        <p:nvSpPr>
          <p:cNvPr id="69" name="Google Shape;69;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 name="Google Shape;70;p16"/>
          <p:cNvGrpSpPr/>
          <p:nvPr/>
        </p:nvGrpSpPr>
        <p:grpSpPr>
          <a:xfrm>
            <a:off x="830392" y="1191256"/>
            <a:ext cx="745763" cy="45826"/>
            <a:chOff x="4580561" y="2589004"/>
            <a:chExt cx="1064464" cy="25200"/>
          </a:xfrm>
        </p:grpSpPr>
        <p:sp>
          <p:nvSpPr>
            <p:cNvPr id="71" name="Google Shape;71;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16"/>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74" name="Google Shape;74;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5" name="Google Shape;75;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6" name="Shape 76"/>
        <p:cNvGrpSpPr/>
        <p:nvPr/>
      </p:nvGrpSpPr>
      <p:grpSpPr>
        <a:xfrm>
          <a:off x="0" y="0"/>
          <a:ext cx="0" cy="0"/>
          <a:chOff x="0" y="0"/>
          <a:chExt cx="0" cy="0"/>
        </a:xfrm>
      </p:grpSpPr>
      <p:sp>
        <p:nvSpPr>
          <p:cNvPr id="77" name="Google Shape;77;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17"/>
          <p:cNvGrpSpPr/>
          <p:nvPr/>
        </p:nvGrpSpPr>
        <p:grpSpPr>
          <a:xfrm>
            <a:off x="830392" y="1191256"/>
            <a:ext cx="745763" cy="45826"/>
            <a:chOff x="4580561" y="2589004"/>
            <a:chExt cx="1064464" cy="25200"/>
          </a:xfrm>
        </p:grpSpPr>
        <p:sp>
          <p:nvSpPr>
            <p:cNvPr id="79" name="Google Shape;79;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17"/>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82" name="Google Shape;82;p17"/>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3" name="Google Shape;83;p17"/>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4" name="Google Shape;84;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5" name="Shape 85"/>
        <p:cNvGrpSpPr/>
        <p:nvPr/>
      </p:nvGrpSpPr>
      <p:grpSpPr>
        <a:xfrm>
          <a:off x="0" y="0"/>
          <a:ext cx="0" cy="0"/>
          <a:chOff x="0" y="0"/>
          <a:chExt cx="0" cy="0"/>
        </a:xfrm>
      </p:grpSpPr>
      <p:sp>
        <p:nvSpPr>
          <p:cNvPr id="86" name="Google Shape;86;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 name="Google Shape;87;p18"/>
          <p:cNvGrpSpPr/>
          <p:nvPr/>
        </p:nvGrpSpPr>
        <p:grpSpPr>
          <a:xfrm>
            <a:off x="830392" y="1191256"/>
            <a:ext cx="745763" cy="45826"/>
            <a:chOff x="4580561" y="2589004"/>
            <a:chExt cx="1064464" cy="25200"/>
          </a:xfrm>
        </p:grpSpPr>
        <p:sp>
          <p:nvSpPr>
            <p:cNvPr id="88" name="Google Shape;88;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18"/>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91" name="Google Shape;91;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2" name="Shape 92"/>
        <p:cNvGrpSpPr/>
        <p:nvPr/>
      </p:nvGrpSpPr>
      <p:grpSpPr>
        <a:xfrm>
          <a:off x="0" y="0"/>
          <a:ext cx="0" cy="0"/>
          <a:chOff x="0" y="0"/>
          <a:chExt cx="0" cy="0"/>
        </a:xfrm>
      </p:grpSpPr>
      <p:sp>
        <p:nvSpPr>
          <p:cNvPr id="93" name="Google Shape;93;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 name="Google Shape;94;p19"/>
          <p:cNvGrpSpPr/>
          <p:nvPr/>
        </p:nvGrpSpPr>
        <p:grpSpPr>
          <a:xfrm>
            <a:off x="830392" y="1191256"/>
            <a:ext cx="745763" cy="45826"/>
            <a:chOff x="4580561" y="2589004"/>
            <a:chExt cx="1064464" cy="25200"/>
          </a:xfrm>
        </p:grpSpPr>
        <p:sp>
          <p:nvSpPr>
            <p:cNvPr id="95" name="Google Shape;95;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19"/>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98" name="Google Shape;98;p19"/>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9" name="Google Shape;99;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00" name="Shape 100"/>
        <p:cNvGrpSpPr/>
        <p:nvPr/>
      </p:nvGrpSpPr>
      <p:grpSpPr>
        <a:xfrm>
          <a:off x="0" y="0"/>
          <a:ext cx="0" cy="0"/>
          <a:chOff x="0" y="0"/>
          <a:chExt cx="0" cy="0"/>
        </a:xfrm>
      </p:grpSpPr>
      <p:grpSp>
        <p:nvGrpSpPr>
          <p:cNvPr id="101" name="Google Shape;101;p20"/>
          <p:cNvGrpSpPr/>
          <p:nvPr/>
        </p:nvGrpSpPr>
        <p:grpSpPr>
          <a:xfrm>
            <a:off x="830392" y="4169130"/>
            <a:ext cx="745763" cy="45826"/>
            <a:chOff x="4580561" y="2589004"/>
            <a:chExt cx="1064464" cy="25200"/>
          </a:xfrm>
        </p:grpSpPr>
        <p:sp>
          <p:nvSpPr>
            <p:cNvPr id="102" name="Google Shape;102;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20"/>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05" name="Google Shape;105;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6" name="Shape 106"/>
        <p:cNvGrpSpPr/>
        <p:nvPr/>
      </p:nvGrpSpPr>
      <p:grpSpPr>
        <a:xfrm>
          <a:off x="0" y="0"/>
          <a:ext cx="0" cy="0"/>
          <a:chOff x="0" y="0"/>
          <a:chExt cx="0" cy="0"/>
        </a:xfrm>
      </p:grpSpPr>
      <p:sp>
        <p:nvSpPr>
          <p:cNvPr id="107" name="Google Shape;107;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 name="Google Shape;108;p21"/>
          <p:cNvGrpSpPr/>
          <p:nvPr/>
        </p:nvGrpSpPr>
        <p:grpSpPr>
          <a:xfrm>
            <a:off x="830392" y="1191256"/>
            <a:ext cx="745763" cy="45826"/>
            <a:chOff x="4580561" y="2589004"/>
            <a:chExt cx="1064464" cy="25200"/>
          </a:xfrm>
        </p:grpSpPr>
        <p:sp>
          <p:nvSpPr>
            <p:cNvPr id="109" name="Google Shape;109;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21"/>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12" name="Google Shape;112;p21"/>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13" name="Google Shape;113;p21"/>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4" name="Google Shape;114;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5" name="Shape 115"/>
        <p:cNvGrpSpPr/>
        <p:nvPr/>
      </p:nvGrpSpPr>
      <p:grpSpPr>
        <a:xfrm>
          <a:off x="0" y="0"/>
          <a:ext cx="0" cy="0"/>
          <a:chOff x="0" y="0"/>
          <a:chExt cx="0" cy="0"/>
        </a:xfrm>
      </p:grpSpPr>
      <p:sp>
        <p:nvSpPr>
          <p:cNvPr id="116" name="Google Shape;116;p22"/>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17" name="Google Shape;117;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18" name="Shape 118"/>
        <p:cNvGrpSpPr/>
        <p:nvPr/>
      </p:nvGrpSpPr>
      <p:grpSpPr>
        <a:xfrm>
          <a:off x="0" y="0"/>
          <a:ext cx="0" cy="0"/>
          <a:chOff x="0" y="0"/>
          <a:chExt cx="0" cy="0"/>
        </a:xfrm>
      </p:grpSpPr>
      <p:grpSp>
        <p:nvGrpSpPr>
          <p:cNvPr id="119" name="Google Shape;119;p23"/>
          <p:cNvGrpSpPr/>
          <p:nvPr/>
        </p:nvGrpSpPr>
        <p:grpSpPr>
          <a:xfrm>
            <a:off x="830392" y="4169130"/>
            <a:ext cx="745763" cy="45826"/>
            <a:chOff x="4580561" y="2589004"/>
            <a:chExt cx="1064464" cy="25200"/>
          </a:xfrm>
        </p:grpSpPr>
        <p:sp>
          <p:nvSpPr>
            <p:cNvPr id="120" name="Google Shape;120;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23" name="Google Shape;123;p23"/>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124" name="Google Shape;124;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53" name="Google Shape;53;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hyperlink" Target="https://www.sig.sc.gov.br" TargetMode="External"/><Relationship Id="rId4" Type="http://schemas.openxmlformats.org/officeDocument/2006/relationships/hyperlink" Target="https://www.sig.sc.gov.b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25"/>
          <p:cNvPicPr preferRelativeResize="0"/>
          <p:nvPr/>
        </p:nvPicPr>
        <p:blipFill>
          <a:blip r:embed="rId3">
            <a:alphaModFix amt="71000"/>
          </a:blip>
          <a:stretch>
            <a:fillRect/>
          </a:stretch>
        </p:blipFill>
        <p:spPr>
          <a:xfrm>
            <a:off x="0" y="0"/>
            <a:ext cx="9144000" cy="5143501"/>
          </a:xfrm>
          <a:prstGeom prst="rect">
            <a:avLst/>
          </a:prstGeom>
          <a:noFill/>
          <a:ln>
            <a:noFill/>
          </a:ln>
        </p:spPr>
      </p:pic>
      <p:sp>
        <p:nvSpPr>
          <p:cNvPr id="132" name="Google Shape;132;p25"/>
          <p:cNvSpPr txBox="1"/>
          <p:nvPr/>
        </p:nvSpPr>
        <p:spPr>
          <a:xfrm>
            <a:off x="152025" y="1512075"/>
            <a:ext cx="8906100" cy="2386500"/>
          </a:xfrm>
          <a:prstGeom prst="rect">
            <a:avLst/>
          </a:prstGeom>
          <a:noFill/>
          <a:ln>
            <a:noFill/>
          </a:ln>
        </p:spPr>
        <p:txBody>
          <a:bodyPr anchorCtr="0" anchor="t" bIns="0" lIns="0" spcFirstLastPara="1" rIns="0" wrap="square" tIns="0">
            <a:spAutoFit/>
          </a:bodyPr>
          <a:lstStyle/>
          <a:p>
            <a:pPr indent="0" lvl="0" marL="0" marR="0" rtl="0" algn="ctr">
              <a:lnSpc>
                <a:spcPct val="104003"/>
              </a:lnSpc>
              <a:spcBef>
                <a:spcPts val="0"/>
              </a:spcBef>
              <a:spcAft>
                <a:spcPts val="0"/>
              </a:spcAft>
              <a:buClr>
                <a:srgbClr val="000000"/>
              </a:buClr>
              <a:buSzPts val="10300"/>
              <a:buFont typeface="Arial"/>
              <a:buNone/>
            </a:pPr>
            <a:r>
              <a:rPr b="1" lang="pt-BR" sz="7600">
                <a:solidFill>
                  <a:srgbClr val="FFFFFF"/>
                </a:solidFill>
                <a:latin typeface="Oswald"/>
                <a:ea typeface="Oswald"/>
                <a:cs typeface="Oswald"/>
                <a:sym typeface="Oswald"/>
              </a:rPr>
              <a:t>PLANEJAMENTO ESTRATÉGICO</a:t>
            </a:r>
            <a:endParaRPr b="0" i="0" sz="800" u="none" cap="none" strike="noStrike">
              <a:solidFill>
                <a:srgbClr val="FFFFFF"/>
              </a:solidFill>
              <a:latin typeface="Arial"/>
              <a:ea typeface="Arial"/>
              <a:cs typeface="Arial"/>
              <a:sym typeface="Arial"/>
            </a:endParaRPr>
          </a:p>
        </p:txBody>
      </p:sp>
      <p:sp>
        <p:nvSpPr>
          <p:cNvPr id="133" name="Google Shape;133;p25"/>
          <p:cNvSpPr txBox="1"/>
          <p:nvPr/>
        </p:nvSpPr>
        <p:spPr>
          <a:xfrm>
            <a:off x="581711" y="4023715"/>
            <a:ext cx="8572500" cy="400200"/>
          </a:xfrm>
          <a:prstGeom prst="rect">
            <a:avLst/>
          </a:prstGeom>
          <a:noFill/>
          <a:ln>
            <a:noFill/>
          </a:ln>
        </p:spPr>
        <p:txBody>
          <a:bodyPr anchorCtr="0" anchor="t" bIns="0" lIns="0" spcFirstLastPara="1" rIns="0" wrap="square" tIns="0">
            <a:spAutoFit/>
          </a:bodyPr>
          <a:lstStyle/>
          <a:p>
            <a:pPr indent="0" lvl="0" marL="0" marR="0" rtl="0" algn="l">
              <a:lnSpc>
                <a:spcPct val="126003"/>
              </a:lnSpc>
              <a:spcBef>
                <a:spcPts val="0"/>
              </a:spcBef>
              <a:spcAft>
                <a:spcPts val="0"/>
              </a:spcAft>
              <a:buClr>
                <a:srgbClr val="000000"/>
              </a:buClr>
              <a:buSzPts val="2600"/>
              <a:buFont typeface="Arial"/>
              <a:buNone/>
            </a:pPr>
            <a:r>
              <a:rPr b="1" lang="pt-BR" sz="2600">
                <a:solidFill>
                  <a:srgbClr val="FFFFFF"/>
                </a:solidFill>
                <a:latin typeface="Oswald"/>
                <a:ea typeface="Oswald"/>
                <a:cs typeface="Oswald"/>
                <a:sym typeface="Oswald"/>
              </a:rPr>
              <a:t>IDENTIDADE ORGANIZACIONAL</a:t>
            </a:r>
            <a:endParaRPr b="0" i="0" sz="1400" u="none" cap="none" strike="noStrike">
              <a:solidFill>
                <a:srgbClr val="FFFFFF"/>
              </a:solidFill>
              <a:latin typeface="Arial"/>
              <a:ea typeface="Arial"/>
              <a:cs typeface="Arial"/>
              <a:sym typeface="Arial"/>
            </a:endParaRPr>
          </a:p>
        </p:txBody>
      </p:sp>
      <p:sp>
        <p:nvSpPr>
          <p:cNvPr id="134" name="Google Shape;134;p25"/>
          <p:cNvSpPr txBox="1"/>
          <p:nvPr/>
        </p:nvSpPr>
        <p:spPr>
          <a:xfrm>
            <a:off x="584200" y="4860385"/>
            <a:ext cx="3457500" cy="184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200"/>
              <a:buFont typeface="Arial"/>
              <a:buNone/>
            </a:pPr>
            <a:r>
              <a:rPr b="1" lang="pt-BR" sz="1200">
                <a:solidFill>
                  <a:srgbClr val="FFFFFF"/>
                </a:solidFill>
                <a:latin typeface="Oswald"/>
                <a:ea typeface="Oswald"/>
                <a:cs typeface="Oswald"/>
                <a:sym typeface="Oswald"/>
              </a:rPr>
              <a:t>DEZEMBRO </a:t>
            </a:r>
            <a:r>
              <a:rPr b="1" lang="pt-BR" sz="1200">
                <a:solidFill>
                  <a:srgbClr val="FFFFFF"/>
                </a:solidFill>
                <a:latin typeface="Oswald"/>
                <a:ea typeface="Oswald"/>
                <a:cs typeface="Oswald"/>
                <a:sym typeface="Oswald"/>
              </a:rPr>
              <a:t>DE</a:t>
            </a:r>
            <a:r>
              <a:rPr b="1" i="0" lang="pt-BR" sz="1200" u="none" cap="none" strike="noStrike">
                <a:solidFill>
                  <a:srgbClr val="FFFFFF"/>
                </a:solidFill>
                <a:latin typeface="Oswald"/>
                <a:ea typeface="Oswald"/>
                <a:cs typeface="Oswald"/>
                <a:sym typeface="Oswald"/>
              </a:rPr>
              <a:t> 202</a:t>
            </a:r>
            <a:r>
              <a:rPr b="1" lang="pt-BR" sz="1200">
                <a:solidFill>
                  <a:srgbClr val="FFFFFF"/>
                </a:solidFill>
                <a:latin typeface="Oswald"/>
                <a:ea typeface="Oswald"/>
                <a:cs typeface="Oswald"/>
                <a:sym typeface="Oswald"/>
              </a:rPr>
              <a:t>4</a:t>
            </a:r>
            <a:endParaRPr b="1" i="0" sz="1400" u="none" cap="none" strike="noStrike">
              <a:solidFill>
                <a:srgbClr val="FFFFFF"/>
              </a:solidFill>
            </a:endParaRPr>
          </a:p>
        </p:txBody>
      </p:sp>
      <p:sp>
        <p:nvSpPr>
          <p:cNvPr id="135" name="Google Shape;135;p25"/>
          <p:cNvSpPr txBox="1"/>
          <p:nvPr/>
        </p:nvSpPr>
        <p:spPr>
          <a:xfrm>
            <a:off x="5753233" y="4860385"/>
            <a:ext cx="3251700" cy="184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200"/>
              <a:buFont typeface="Arial"/>
              <a:buNone/>
            </a:pPr>
            <a:r>
              <a:rPr b="1" lang="pt-BR" sz="1200">
                <a:solidFill>
                  <a:srgbClr val="FFFFFF"/>
                </a:solidFill>
                <a:latin typeface="Oswald"/>
                <a:ea typeface="Oswald"/>
                <a:cs typeface="Oswald"/>
                <a:sym typeface="Oswald"/>
              </a:rPr>
              <a:t>ASSESSORIA DE PLANEJAMENTO E ORÇAMENTO</a:t>
            </a:r>
            <a:endParaRPr b="1" i="0" sz="1400" u="none" cap="none" strike="noStrike">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139" name="Shape 139"/>
        <p:cNvGrpSpPr/>
        <p:nvPr/>
      </p:nvGrpSpPr>
      <p:grpSpPr>
        <a:xfrm>
          <a:off x="0" y="0"/>
          <a:ext cx="0" cy="0"/>
          <a:chOff x="0" y="0"/>
          <a:chExt cx="0" cy="0"/>
        </a:xfrm>
      </p:grpSpPr>
      <p:sp>
        <p:nvSpPr>
          <p:cNvPr id="140" name="Google Shape;140;p26"/>
          <p:cNvSpPr/>
          <p:nvPr/>
        </p:nvSpPr>
        <p:spPr>
          <a:xfrm>
            <a:off x="-10614" y="-7961"/>
            <a:ext cx="9156000" cy="5171100"/>
          </a:xfrm>
          <a:prstGeom prst="rect">
            <a:avLst/>
          </a:prstGeom>
          <a:solidFill>
            <a:srgbClr val="FFFFFF"/>
          </a:solidFill>
          <a:ln>
            <a:noFill/>
          </a:ln>
        </p:spPr>
        <p:txBody>
          <a:bodyPr anchorCtr="0" anchor="ctr"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355600" lvl="0" marL="457200" rtl="0" algn="l">
              <a:lnSpc>
                <a:spcPct val="200000"/>
              </a:lnSpc>
              <a:spcBef>
                <a:spcPts val="1200"/>
              </a:spcBef>
              <a:spcAft>
                <a:spcPts val="0"/>
              </a:spcAft>
              <a:buClr>
                <a:srgbClr val="000000"/>
              </a:buClr>
              <a:buSzPts val="2000"/>
              <a:buFont typeface="Oswald"/>
              <a:buChar char="❏"/>
            </a:pPr>
            <a:r>
              <a:rPr lang="pt-BR" sz="2000">
                <a:highlight>
                  <a:schemeClr val="lt1"/>
                </a:highlight>
                <a:latin typeface="Oswald"/>
                <a:ea typeface="Oswald"/>
                <a:cs typeface="Oswald"/>
                <a:sym typeface="Oswald"/>
              </a:rPr>
              <a:t>Apresentar o Plano de Trabalho e Fluxograma de Elaboração do PE 2025-2029;</a:t>
            </a:r>
            <a:endParaRPr sz="2000">
              <a:highlight>
                <a:schemeClr val="lt1"/>
              </a:highlight>
              <a:latin typeface="Oswald"/>
              <a:ea typeface="Oswald"/>
              <a:cs typeface="Oswald"/>
              <a:sym typeface="Oswald"/>
            </a:endParaRPr>
          </a:p>
          <a:p>
            <a:pPr indent="-355600" lvl="0" marL="457200" rtl="0" algn="l">
              <a:lnSpc>
                <a:spcPct val="200000"/>
              </a:lnSpc>
              <a:spcBef>
                <a:spcPts val="0"/>
              </a:spcBef>
              <a:spcAft>
                <a:spcPts val="0"/>
              </a:spcAft>
              <a:buClr>
                <a:srgbClr val="000000"/>
              </a:buClr>
              <a:buSzPts val="2000"/>
              <a:buFont typeface="Oswald"/>
              <a:buChar char="❏"/>
            </a:pPr>
            <a:r>
              <a:rPr lang="pt-BR" sz="2000">
                <a:highlight>
                  <a:schemeClr val="lt1"/>
                </a:highlight>
                <a:latin typeface="Oswald"/>
                <a:ea typeface="Oswald"/>
                <a:cs typeface="Oswald"/>
                <a:sym typeface="Oswald"/>
              </a:rPr>
              <a:t>Introduzir o conceito de identidade organizacional;</a:t>
            </a:r>
            <a:endParaRPr sz="2000">
              <a:highlight>
                <a:schemeClr val="lt1"/>
              </a:highlight>
              <a:latin typeface="Oswald"/>
              <a:ea typeface="Oswald"/>
              <a:cs typeface="Oswald"/>
              <a:sym typeface="Oswald"/>
            </a:endParaRPr>
          </a:p>
          <a:p>
            <a:pPr indent="-355600" lvl="0" marL="457200" rtl="0" algn="l">
              <a:lnSpc>
                <a:spcPct val="200000"/>
              </a:lnSpc>
              <a:spcBef>
                <a:spcPts val="0"/>
              </a:spcBef>
              <a:spcAft>
                <a:spcPts val="0"/>
              </a:spcAft>
              <a:buClr>
                <a:srgbClr val="000000"/>
              </a:buClr>
              <a:buSzPts val="2000"/>
              <a:buFont typeface="Oswald"/>
              <a:buChar char="❏"/>
            </a:pPr>
            <a:r>
              <a:rPr lang="pt-BR" sz="2000">
                <a:highlight>
                  <a:schemeClr val="lt1"/>
                </a:highlight>
                <a:latin typeface="Oswald"/>
                <a:ea typeface="Oswald"/>
                <a:cs typeface="Oswald"/>
                <a:sym typeface="Oswald"/>
              </a:rPr>
              <a:t>Definir pilares: Missão, Visão, Valores;</a:t>
            </a:r>
            <a:endParaRPr sz="2000">
              <a:highlight>
                <a:schemeClr val="lt1"/>
              </a:highlight>
              <a:latin typeface="Oswald"/>
              <a:ea typeface="Oswald"/>
              <a:cs typeface="Oswald"/>
              <a:sym typeface="Oswald"/>
            </a:endParaRPr>
          </a:p>
          <a:p>
            <a:pPr indent="-355600" lvl="0" marL="457200" rtl="0" algn="l">
              <a:lnSpc>
                <a:spcPct val="200000"/>
              </a:lnSpc>
              <a:spcBef>
                <a:spcPts val="0"/>
              </a:spcBef>
              <a:spcAft>
                <a:spcPts val="0"/>
              </a:spcAft>
              <a:buClr>
                <a:schemeClr val="dk2"/>
              </a:buClr>
              <a:buSzPts val="2000"/>
              <a:buFont typeface="Oswald"/>
              <a:buChar char="❏"/>
            </a:pPr>
            <a:r>
              <a:rPr lang="pt-BR" sz="2000">
                <a:highlight>
                  <a:schemeClr val="lt1"/>
                </a:highlight>
                <a:latin typeface="Oswald"/>
                <a:ea typeface="Oswald"/>
                <a:cs typeface="Oswald"/>
                <a:sym typeface="Oswald"/>
              </a:rPr>
              <a:t>Apresentar a metodologia utilizada;</a:t>
            </a:r>
            <a:endParaRPr sz="2000">
              <a:highlight>
                <a:schemeClr val="lt1"/>
              </a:highlight>
              <a:latin typeface="Oswald"/>
              <a:ea typeface="Oswald"/>
              <a:cs typeface="Oswald"/>
              <a:sym typeface="Oswald"/>
            </a:endParaRPr>
          </a:p>
          <a:p>
            <a:pPr indent="-355600" lvl="0" marL="457200" rtl="0" algn="l">
              <a:lnSpc>
                <a:spcPct val="200000"/>
              </a:lnSpc>
              <a:spcBef>
                <a:spcPts val="0"/>
              </a:spcBef>
              <a:spcAft>
                <a:spcPts val="0"/>
              </a:spcAft>
              <a:buClr>
                <a:srgbClr val="000000"/>
              </a:buClr>
              <a:buSzPts val="2000"/>
              <a:buFont typeface="Oswald"/>
              <a:buChar char="❏"/>
            </a:pPr>
            <a:r>
              <a:rPr lang="pt-BR" sz="2000">
                <a:highlight>
                  <a:schemeClr val="lt1"/>
                </a:highlight>
                <a:latin typeface="Oswald"/>
                <a:ea typeface="Oswald"/>
                <a:cs typeface="Oswald"/>
                <a:sym typeface="Oswald"/>
              </a:rPr>
              <a:t>Revisar a identidade organizacional.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141" name="Google Shape;141;p26"/>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142" name="Google Shape;142;p26"/>
          <p:cNvSpPr txBox="1"/>
          <p:nvPr/>
        </p:nvSpPr>
        <p:spPr>
          <a:xfrm>
            <a:off x="152400" y="319582"/>
            <a:ext cx="43758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Objetivos</a:t>
            </a:r>
            <a:endParaRPr i="0" sz="1200" u="none" cap="none" strike="noStrike">
              <a:solidFill>
                <a:srgbClr val="000000"/>
              </a:solidFill>
              <a:latin typeface="Oswald"/>
              <a:ea typeface="Oswald"/>
              <a:cs typeface="Oswald"/>
              <a:sym typeface="Oswald"/>
            </a:endParaRPr>
          </a:p>
        </p:txBody>
      </p:sp>
      <p:sp>
        <p:nvSpPr>
          <p:cNvPr id="143" name="Google Shape;143;p26"/>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a:t>
            </a:r>
            <a:r>
              <a:rPr b="1" lang="pt-BR" sz="1000">
                <a:solidFill>
                  <a:srgbClr val="DC1B13"/>
                </a:solidFill>
                <a:latin typeface="Oswald"/>
                <a:ea typeface="Oswald"/>
                <a:cs typeface="Oswald"/>
                <a:sym typeface="Oswald"/>
              </a:rPr>
              <a:t>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144" name="Google Shape;144;p26"/>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145" name="Google Shape;145;p26"/>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149" name="Shape 149"/>
        <p:cNvGrpSpPr/>
        <p:nvPr/>
      </p:nvGrpSpPr>
      <p:grpSpPr>
        <a:xfrm>
          <a:off x="0" y="0"/>
          <a:ext cx="0" cy="0"/>
          <a:chOff x="0" y="0"/>
          <a:chExt cx="0" cy="0"/>
        </a:xfrm>
      </p:grpSpPr>
      <p:sp>
        <p:nvSpPr>
          <p:cNvPr id="150" name="Google Shape;150;p27"/>
          <p:cNvSpPr/>
          <p:nvPr/>
        </p:nvSpPr>
        <p:spPr>
          <a:xfrm>
            <a:off x="-10614" y="-7961"/>
            <a:ext cx="9156000" cy="5171100"/>
          </a:xfrm>
          <a:prstGeom prst="rect">
            <a:avLst/>
          </a:prstGeom>
          <a:solidFill>
            <a:srgbClr val="FFFFFF"/>
          </a:solidFill>
          <a:ln>
            <a:noFill/>
          </a:ln>
        </p:spPr>
        <p:txBody>
          <a:bodyPr anchorCtr="0" anchor="ctr"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45720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45720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151" name="Google Shape;151;p27"/>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152" name="Google Shape;152;p27"/>
          <p:cNvSpPr txBox="1"/>
          <p:nvPr/>
        </p:nvSpPr>
        <p:spPr>
          <a:xfrm>
            <a:off x="152400" y="319575"/>
            <a:ext cx="48477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Plano de Trabalho</a:t>
            </a:r>
            <a:endParaRPr b="0" i="0" sz="1200" u="none" cap="none" strike="noStrike">
              <a:solidFill>
                <a:srgbClr val="000000"/>
              </a:solidFill>
              <a:latin typeface="Arial"/>
              <a:ea typeface="Arial"/>
              <a:cs typeface="Arial"/>
              <a:sym typeface="Arial"/>
            </a:endParaRPr>
          </a:p>
        </p:txBody>
      </p:sp>
      <p:sp>
        <p:nvSpPr>
          <p:cNvPr id="153" name="Google Shape;153;p27"/>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154" name="Google Shape;154;p27"/>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155" name="Google Shape;155;p27"/>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graphicFrame>
        <p:nvGraphicFramePr>
          <p:cNvPr id="156" name="Google Shape;156;p27"/>
          <p:cNvGraphicFramePr/>
          <p:nvPr/>
        </p:nvGraphicFramePr>
        <p:xfrm>
          <a:off x="229600" y="1025250"/>
          <a:ext cx="3000000" cy="3000000"/>
        </p:xfrm>
        <a:graphic>
          <a:graphicData uri="http://schemas.openxmlformats.org/drawingml/2006/table">
            <a:tbl>
              <a:tblPr>
                <a:noFill/>
                <a:tableStyleId>{FBC7D9F3-D756-43D8-8C55-0EA22D93012E}</a:tableStyleId>
              </a:tblPr>
              <a:tblGrid>
                <a:gridCol w="4373350"/>
                <a:gridCol w="4373350"/>
              </a:tblGrid>
              <a:tr h="500325">
                <a:tc>
                  <a:txBody>
                    <a:bodyPr/>
                    <a:lstStyle/>
                    <a:p>
                      <a:pPr indent="0" lvl="0" marL="0" rtl="0" algn="ctr">
                        <a:spcBef>
                          <a:spcPts val="0"/>
                        </a:spcBef>
                        <a:spcAft>
                          <a:spcPts val="0"/>
                        </a:spcAft>
                        <a:buNone/>
                      </a:pPr>
                      <a:r>
                        <a:rPr b="1" lang="pt-BR" sz="2000">
                          <a:latin typeface="Oswald"/>
                          <a:ea typeface="Oswald"/>
                          <a:cs typeface="Oswald"/>
                          <a:sym typeface="Oswald"/>
                        </a:rPr>
                        <a:t>ATIVIDADE </a:t>
                      </a:r>
                      <a:endParaRPr b="1"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4285F4"/>
                    </a:solidFill>
                  </a:tcPr>
                </a:tc>
                <a:tc>
                  <a:txBody>
                    <a:bodyPr/>
                    <a:lstStyle/>
                    <a:p>
                      <a:pPr indent="0" lvl="0" marL="0" rtl="0" algn="ctr">
                        <a:spcBef>
                          <a:spcPts val="0"/>
                        </a:spcBef>
                        <a:spcAft>
                          <a:spcPts val="0"/>
                        </a:spcAft>
                        <a:buNone/>
                      </a:pPr>
                      <a:r>
                        <a:rPr b="1" lang="pt-BR" sz="2000">
                          <a:latin typeface="Oswald"/>
                          <a:ea typeface="Oswald"/>
                          <a:cs typeface="Oswald"/>
                          <a:sym typeface="Oswald"/>
                        </a:rPr>
                        <a:t>FONTE / AUTOR</a:t>
                      </a:r>
                      <a:endParaRPr b="1"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AB40"/>
                    </a:solidFill>
                  </a:tcPr>
                </a:tc>
              </a:tr>
              <a:tr h="996600">
                <a:tc>
                  <a:txBody>
                    <a:bodyPr/>
                    <a:lstStyle/>
                    <a:p>
                      <a:pPr indent="0" lvl="0" marL="0" rtl="0" algn="ctr">
                        <a:spcBef>
                          <a:spcPts val="0"/>
                        </a:spcBef>
                        <a:spcAft>
                          <a:spcPts val="0"/>
                        </a:spcAft>
                        <a:buNone/>
                      </a:pPr>
                      <a:r>
                        <a:rPr lang="pt-BR" sz="2000">
                          <a:latin typeface="Oswald"/>
                          <a:ea typeface="Oswald"/>
                          <a:cs typeface="Oswald"/>
                          <a:sym typeface="Oswald"/>
                        </a:rPr>
                        <a:t>Revisão bibliográfica e documental</a:t>
                      </a:r>
                      <a:endParaRPr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4285F4"/>
                    </a:solidFill>
                  </a:tcPr>
                </a:tc>
                <a:tc>
                  <a:txBody>
                    <a:bodyPr/>
                    <a:lstStyle/>
                    <a:p>
                      <a:pPr indent="-355600" lvl="0" marL="457200" rtl="0" algn="l">
                        <a:spcBef>
                          <a:spcPts val="0"/>
                        </a:spcBef>
                        <a:spcAft>
                          <a:spcPts val="0"/>
                        </a:spcAft>
                        <a:buSzPts val="2000"/>
                        <a:buFont typeface="Oswald"/>
                        <a:buChar char="●"/>
                      </a:pPr>
                      <a:r>
                        <a:rPr lang="pt-BR" sz="2000">
                          <a:latin typeface="Oswald"/>
                          <a:ea typeface="Oswald"/>
                          <a:cs typeface="Oswald"/>
                          <a:sym typeface="Oswald"/>
                        </a:rPr>
                        <a:t>Literatura especializada</a:t>
                      </a:r>
                      <a:endParaRPr sz="2000">
                        <a:latin typeface="Oswald"/>
                        <a:ea typeface="Oswald"/>
                        <a:cs typeface="Oswald"/>
                        <a:sym typeface="Oswald"/>
                      </a:endParaRPr>
                    </a:p>
                    <a:p>
                      <a:pPr indent="-355600" lvl="0" marL="457200" rtl="0" algn="l">
                        <a:spcBef>
                          <a:spcPts val="0"/>
                        </a:spcBef>
                        <a:spcAft>
                          <a:spcPts val="0"/>
                        </a:spcAft>
                        <a:buSzPts val="2000"/>
                        <a:buFont typeface="Oswald"/>
                        <a:buChar char="●"/>
                      </a:pPr>
                      <a:r>
                        <a:rPr lang="pt-BR" sz="2000">
                          <a:latin typeface="Oswald"/>
                          <a:ea typeface="Oswald"/>
                          <a:cs typeface="Oswald"/>
                          <a:sym typeface="Oswald"/>
                        </a:rPr>
                        <a:t>Sites e documentos oficiais</a:t>
                      </a:r>
                      <a:endParaRPr sz="2000">
                        <a:latin typeface="Oswald"/>
                        <a:ea typeface="Oswald"/>
                        <a:cs typeface="Oswald"/>
                        <a:sym typeface="Oswald"/>
                      </a:endParaRPr>
                    </a:p>
                    <a:p>
                      <a:pPr indent="-355600" lvl="0" marL="457200" rtl="0" algn="l">
                        <a:spcBef>
                          <a:spcPts val="0"/>
                        </a:spcBef>
                        <a:spcAft>
                          <a:spcPts val="0"/>
                        </a:spcAft>
                        <a:buSzPts val="2000"/>
                        <a:buFont typeface="Oswald"/>
                        <a:buChar char="●"/>
                      </a:pPr>
                      <a:r>
                        <a:rPr lang="pt-BR" sz="2000">
                          <a:latin typeface="Oswald"/>
                          <a:ea typeface="Oswald"/>
                          <a:cs typeface="Oswald"/>
                          <a:sym typeface="Oswald"/>
                        </a:rPr>
                        <a:t>Networking</a:t>
                      </a:r>
                      <a:endParaRPr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AB40"/>
                    </a:solidFill>
                  </a:tcPr>
                </a:tc>
              </a:tr>
              <a:tr h="996600">
                <a:tc>
                  <a:txBody>
                    <a:bodyPr/>
                    <a:lstStyle/>
                    <a:p>
                      <a:pPr indent="0" lvl="0" marL="0" rtl="0" algn="ctr">
                        <a:spcBef>
                          <a:spcPts val="0"/>
                        </a:spcBef>
                        <a:spcAft>
                          <a:spcPts val="0"/>
                        </a:spcAft>
                        <a:buNone/>
                      </a:pPr>
                      <a:r>
                        <a:rPr lang="pt-BR" sz="2000">
                          <a:latin typeface="Oswald"/>
                          <a:ea typeface="Oswald"/>
                          <a:cs typeface="Oswald"/>
                          <a:sym typeface="Oswald"/>
                        </a:rPr>
                        <a:t>Avaliação do Plano Estratégico 2020-24</a:t>
                      </a:r>
                      <a:endParaRPr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4285F4"/>
                    </a:solidFill>
                  </a:tcPr>
                </a:tc>
                <a:tc>
                  <a:txBody>
                    <a:bodyPr/>
                    <a:lstStyle/>
                    <a:p>
                      <a:pPr indent="-355600" lvl="0" marL="457200" rtl="0" algn="l">
                        <a:spcBef>
                          <a:spcPts val="0"/>
                        </a:spcBef>
                        <a:spcAft>
                          <a:spcPts val="0"/>
                        </a:spcAft>
                        <a:buSzPts val="2000"/>
                        <a:buFont typeface="Oswald"/>
                        <a:buChar char="●"/>
                      </a:pPr>
                      <a:r>
                        <a:rPr lang="pt-BR" sz="2000">
                          <a:latin typeface="Oswald"/>
                          <a:ea typeface="Oswald"/>
                          <a:cs typeface="Oswald"/>
                          <a:sym typeface="Oswald"/>
                        </a:rPr>
                        <a:t>Relatórios de gestão</a:t>
                      </a:r>
                      <a:endParaRPr sz="2000">
                        <a:latin typeface="Oswald"/>
                        <a:ea typeface="Oswald"/>
                        <a:cs typeface="Oswald"/>
                        <a:sym typeface="Oswald"/>
                      </a:endParaRPr>
                    </a:p>
                    <a:p>
                      <a:pPr indent="-355600" lvl="0" marL="457200" rtl="0" algn="l">
                        <a:spcBef>
                          <a:spcPts val="0"/>
                        </a:spcBef>
                        <a:spcAft>
                          <a:spcPts val="0"/>
                        </a:spcAft>
                        <a:buSzPts val="2000"/>
                        <a:buFont typeface="Oswald"/>
                        <a:buChar char="●"/>
                      </a:pPr>
                      <a:r>
                        <a:rPr lang="pt-BR" sz="2000">
                          <a:latin typeface="Oswald"/>
                          <a:ea typeface="Oswald"/>
                          <a:cs typeface="Oswald"/>
                          <a:sym typeface="Oswald"/>
                        </a:rPr>
                        <a:t>Relatórios dos indicadores</a:t>
                      </a:r>
                      <a:endParaRPr sz="2000">
                        <a:latin typeface="Oswald"/>
                        <a:ea typeface="Oswald"/>
                        <a:cs typeface="Oswald"/>
                        <a:sym typeface="Oswald"/>
                      </a:endParaRPr>
                    </a:p>
                    <a:p>
                      <a:pPr indent="-355600" lvl="0" marL="457200" rtl="0" algn="l">
                        <a:spcBef>
                          <a:spcPts val="0"/>
                        </a:spcBef>
                        <a:spcAft>
                          <a:spcPts val="0"/>
                        </a:spcAft>
                        <a:buSzPts val="2000"/>
                        <a:buFont typeface="Oswald"/>
                        <a:buChar char="●"/>
                      </a:pPr>
                      <a:r>
                        <a:rPr lang="pt-BR" sz="2000">
                          <a:latin typeface="Oswald"/>
                          <a:ea typeface="Oswald"/>
                          <a:cs typeface="Oswald"/>
                          <a:sym typeface="Oswald"/>
                        </a:rPr>
                        <a:t>Órgãos de direção setorial</a:t>
                      </a:r>
                      <a:endParaRPr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AB40"/>
                    </a:solidFill>
                  </a:tcPr>
                </a:tc>
              </a:tr>
              <a:tr h="614300">
                <a:tc>
                  <a:txBody>
                    <a:bodyPr/>
                    <a:lstStyle/>
                    <a:p>
                      <a:pPr indent="0" lvl="0" marL="0" rtl="0" algn="ctr">
                        <a:spcBef>
                          <a:spcPts val="0"/>
                        </a:spcBef>
                        <a:spcAft>
                          <a:spcPts val="0"/>
                        </a:spcAft>
                        <a:buNone/>
                      </a:pPr>
                      <a:r>
                        <a:rPr lang="pt-BR" sz="2000">
                          <a:latin typeface="Oswald"/>
                          <a:ea typeface="Oswald"/>
                          <a:cs typeface="Oswald"/>
                          <a:sym typeface="Oswald"/>
                        </a:rPr>
                        <a:t>Revisão da identidade organizacional</a:t>
                      </a:r>
                      <a:endParaRPr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4285F4"/>
                    </a:solidFill>
                  </a:tcPr>
                </a:tc>
                <a:tc>
                  <a:txBody>
                    <a:bodyPr/>
                    <a:lstStyle/>
                    <a:p>
                      <a:pPr indent="-355600" lvl="0" marL="457200" rtl="0" algn="l">
                        <a:spcBef>
                          <a:spcPts val="0"/>
                        </a:spcBef>
                        <a:spcAft>
                          <a:spcPts val="0"/>
                        </a:spcAft>
                        <a:buSzPts val="2000"/>
                        <a:buFont typeface="Oswald"/>
                        <a:buChar char="●"/>
                      </a:pPr>
                      <a:r>
                        <a:rPr lang="pt-BR" sz="2000">
                          <a:latin typeface="Oswald"/>
                          <a:ea typeface="Oswald"/>
                          <a:cs typeface="Oswald"/>
                          <a:sym typeface="Oswald"/>
                        </a:rPr>
                        <a:t>Comando geral </a:t>
                      </a:r>
                      <a:endParaRPr sz="2000">
                        <a:latin typeface="Oswald"/>
                        <a:ea typeface="Oswald"/>
                        <a:cs typeface="Oswald"/>
                        <a:sym typeface="Oswald"/>
                      </a:endParaRPr>
                    </a:p>
                    <a:p>
                      <a:pPr indent="-355600" lvl="0" marL="457200" rtl="0" algn="l">
                        <a:spcBef>
                          <a:spcPts val="0"/>
                        </a:spcBef>
                        <a:spcAft>
                          <a:spcPts val="0"/>
                        </a:spcAft>
                        <a:buSzPts val="2000"/>
                        <a:buFont typeface="Oswald"/>
                        <a:buChar char="●"/>
                      </a:pPr>
                      <a:r>
                        <a:rPr lang="pt-BR" sz="2000">
                          <a:latin typeface="Oswald"/>
                          <a:ea typeface="Oswald"/>
                          <a:cs typeface="Oswald"/>
                          <a:sym typeface="Oswald"/>
                        </a:rPr>
                        <a:t>Estado-Maior Geral</a:t>
                      </a:r>
                      <a:endParaRPr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AB40"/>
                    </a:solidFill>
                  </a:tcPr>
                </a:tc>
              </a:tr>
            </a:tbl>
          </a:graphicData>
        </a:graphic>
      </p:graphicFrame>
      <p:sp>
        <p:nvSpPr>
          <p:cNvPr id="157" name="Google Shape;157;p27"/>
          <p:cNvSpPr/>
          <p:nvPr/>
        </p:nvSpPr>
        <p:spPr>
          <a:xfrm>
            <a:off x="177350" y="3825775"/>
            <a:ext cx="544800" cy="2280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161" name="Shape 161"/>
        <p:cNvGrpSpPr/>
        <p:nvPr/>
      </p:nvGrpSpPr>
      <p:grpSpPr>
        <a:xfrm>
          <a:off x="0" y="0"/>
          <a:ext cx="0" cy="0"/>
          <a:chOff x="0" y="0"/>
          <a:chExt cx="0" cy="0"/>
        </a:xfrm>
      </p:grpSpPr>
      <p:sp>
        <p:nvSpPr>
          <p:cNvPr id="162" name="Google Shape;162;p28"/>
          <p:cNvSpPr/>
          <p:nvPr/>
        </p:nvSpPr>
        <p:spPr>
          <a:xfrm>
            <a:off x="-10614" y="-7961"/>
            <a:ext cx="9156000" cy="5171100"/>
          </a:xfrm>
          <a:prstGeom prst="rect">
            <a:avLst/>
          </a:prstGeom>
          <a:solidFill>
            <a:srgbClr val="FFFFFF"/>
          </a:solidFill>
          <a:ln>
            <a:noFill/>
          </a:ln>
        </p:spPr>
        <p:txBody>
          <a:bodyPr anchorCtr="0" anchor="ctr"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45720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45720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163" name="Google Shape;163;p28"/>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164" name="Google Shape;164;p28"/>
          <p:cNvSpPr txBox="1"/>
          <p:nvPr/>
        </p:nvSpPr>
        <p:spPr>
          <a:xfrm>
            <a:off x="152400" y="319575"/>
            <a:ext cx="48477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Plano de Trabalho</a:t>
            </a:r>
            <a:endParaRPr b="0" i="0" sz="1200" u="none" cap="none" strike="noStrike">
              <a:solidFill>
                <a:srgbClr val="000000"/>
              </a:solidFill>
              <a:latin typeface="Arial"/>
              <a:ea typeface="Arial"/>
              <a:cs typeface="Arial"/>
              <a:sym typeface="Arial"/>
            </a:endParaRPr>
          </a:p>
        </p:txBody>
      </p:sp>
      <p:sp>
        <p:nvSpPr>
          <p:cNvPr id="165" name="Google Shape;165;p28"/>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166" name="Google Shape;166;p28"/>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167" name="Google Shape;167;p28"/>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graphicFrame>
        <p:nvGraphicFramePr>
          <p:cNvPr id="168" name="Google Shape;168;p28"/>
          <p:cNvGraphicFramePr/>
          <p:nvPr/>
        </p:nvGraphicFramePr>
        <p:xfrm>
          <a:off x="191600" y="1025250"/>
          <a:ext cx="3000000" cy="3000000"/>
        </p:xfrm>
        <a:graphic>
          <a:graphicData uri="http://schemas.openxmlformats.org/drawingml/2006/table">
            <a:tbl>
              <a:tblPr>
                <a:noFill/>
                <a:tableStyleId>{FBC7D9F3-D756-43D8-8C55-0EA22D93012E}</a:tableStyleId>
              </a:tblPr>
              <a:tblGrid>
                <a:gridCol w="4422700"/>
                <a:gridCol w="4422700"/>
              </a:tblGrid>
              <a:tr h="1097250">
                <a:tc>
                  <a:txBody>
                    <a:bodyPr/>
                    <a:lstStyle/>
                    <a:p>
                      <a:pPr indent="0" lvl="0" marL="0" rtl="0" algn="ctr">
                        <a:spcBef>
                          <a:spcPts val="0"/>
                        </a:spcBef>
                        <a:spcAft>
                          <a:spcPts val="0"/>
                        </a:spcAft>
                        <a:buNone/>
                      </a:pPr>
                      <a:r>
                        <a:rPr lang="pt-BR" sz="2000">
                          <a:latin typeface="Oswald"/>
                          <a:ea typeface="Oswald"/>
                          <a:cs typeface="Oswald"/>
                          <a:sym typeface="Oswald"/>
                        </a:rPr>
                        <a:t>Diagnóstico organizacional</a:t>
                      </a:r>
                      <a:endParaRPr b="1"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4285F4"/>
                    </a:solidFill>
                  </a:tcPr>
                </a:tc>
                <a:tc>
                  <a:txBody>
                    <a:bodyPr/>
                    <a:lstStyle/>
                    <a:p>
                      <a:pPr indent="0" lvl="0" marL="0" rtl="0" algn="ctr">
                        <a:spcBef>
                          <a:spcPts val="0"/>
                        </a:spcBef>
                        <a:spcAft>
                          <a:spcPts val="0"/>
                        </a:spcAft>
                        <a:buNone/>
                      </a:pPr>
                      <a:r>
                        <a:rPr lang="pt-BR" sz="2000">
                          <a:latin typeface="Oswald"/>
                          <a:ea typeface="Oswald"/>
                          <a:cs typeface="Oswald"/>
                          <a:sym typeface="Oswald"/>
                        </a:rPr>
                        <a:t>Grupos Técnicos de Trabalho, Comando Geral,</a:t>
                      </a:r>
                      <a:endParaRPr sz="2000">
                        <a:latin typeface="Oswald"/>
                        <a:ea typeface="Oswald"/>
                        <a:cs typeface="Oswald"/>
                        <a:sym typeface="Oswald"/>
                      </a:endParaRPr>
                    </a:p>
                    <a:p>
                      <a:pPr indent="0" lvl="0" marL="0" rtl="0" algn="ctr">
                        <a:spcBef>
                          <a:spcPts val="0"/>
                        </a:spcBef>
                        <a:spcAft>
                          <a:spcPts val="0"/>
                        </a:spcAft>
                        <a:buNone/>
                      </a:pPr>
                      <a:r>
                        <a:rPr lang="pt-BR" sz="2000">
                          <a:latin typeface="Oswald"/>
                          <a:ea typeface="Oswald"/>
                          <a:cs typeface="Oswald"/>
                          <a:sym typeface="Oswald"/>
                        </a:rPr>
                        <a:t>Cmts de BBMs, militares do CBMAL e </a:t>
                      </a:r>
                      <a:endParaRPr sz="2000">
                        <a:latin typeface="Oswald"/>
                        <a:ea typeface="Oswald"/>
                        <a:cs typeface="Oswald"/>
                        <a:sym typeface="Oswald"/>
                      </a:endParaRPr>
                    </a:p>
                    <a:p>
                      <a:pPr indent="0" lvl="0" marL="0" rtl="0" algn="ctr">
                        <a:spcBef>
                          <a:spcPts val="0"/>
                        </a:spcBef>
                        <a:spcAft>
                          <a:spcPts val="0"/>
                        </a:spcAft>
                        <a:buNone/>
                      </a:pPr>
                      <a:r>
                        <a:rPr lang="pt-BR" sz="2000">
                          <a:latin typeface="Oswald"/>
                          <a:ea typeface="Oswald"/>
                          <a:cs typeface="Oswald"/>
                          <a:sym typeface="Oswald"/>
                        </a:rPr>
                        <a:t>cidadão-usuário</a:t>
                      </a:r>
                      <a:endParaRPr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AB40"/>
                    </a:solidFill>
                  </a:tcPr>
                </a:tc>
              </a:tr>
              <a:tr h="552475">
                <a:tc>
                  <a:txBody>
                    <a:bodyPr/>
                    <a:lstStyle/>
                    <a:p>
                      <a:pPr indent="0" lvl="0" marL="0" rtl="0" algn="ctr">
                        <a:spcBef>
                          <a:spcPts val="0"/>
                        </a:spcBef>
                        <a:spcAft>
                          <a:spcPts val="0"/>
                        </a:spcAft>
                        <a:buNone/>
                      </a:pPr>
                      <a:r>
                        <a:rPr lang="pt-BR" sz="2000">
                          <a:latin typeface="Oswald"/>
                          <a:ea typeface="Oswald"/>
                          <a:cs typeface="Oswald"/>
                          <a:sym typeface="Oswald"/>
                        </a:rPr>
                        <a:t>Revisão do mapa estratégico</a:t>
                      </a:r>
                      <a:endParaRPr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4285F4"/>
                    </a:solidFill>
                  </a:tcPr>
                </a:tc>
                <a:tc>
                  <a:txBody>
                    <a:bodyPr/>
                    <a:lstStyle/>
                    <a:p>
                      <a:pPr indent="0" lvl="0" marL="0" rtl="0" algn="ctr">
                        <a:spcBef>
                          <a:spcPts val="0"/>
                        </a:spcBef>
                        <a:spcAft>
                          <a:spcPts val="0"/>
                        </a:spcAft>
                        <a:buNone/>
                      </a:pPr>
                      <a:r>
                        <a:rPr lang="pt-BR" sz="2000">
                          <a:latin typeface="Oswald"/>
                          <a:ea typeface="Oswald"/>
                          <a:cs typeface="Oswald"/>
                          <a:sym typeface="Oswald"/>
                        </a:rPr>
                        <a:t>APO/EMG e orgãos de direção setorial</a:t>
                      </a:r>
                      <a:endParaRPr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AB40"/>
                    </a:solidFill>
                  </a:tcPr>
                </a:tc>
              </a:tr>
              <a:tr h="831225">
                <a:tc>
                  <a:txBody>
                    <a:bodyPr/>
                    <a:lstStyle/>
                    <a:p>
                      <a:pPr indent="0" lvl="0" marL="0" rtl="0" algn="ctr">
                        <a:spcBef>
                          <a:spcPts val="0"/>
                        </a:spcBef>
                        <a:spcAft>
                          <a:spcPts val="0"/>
                        </a:spcAft>
                        <a:buNone/>
                      </a:pPr>
                      <a:r>
                        <a:rPr lang="pt-BR" sz="2000">
                          <a:latin typeface="Oswald"/>
                          <a:ea typeface="Oswald"/>
                          <a:cs typeface="Oswald"/>
                          <a:sym typeface="Oswald"/>
                        </a:rPr>
                        <a:t>Revisão dos indicadores institucionais</a:t>
                      </a:r>
                      <a:endParaRPr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4285F4"/>
                    </a:solidFill>
                  </a:tcPr>
                </a:tc>
                <a:tc>
                  <a:txBody>
                    <a:bodyPr/>
                    <a:lstStyle/>
                    <a:p>
                      <a:pPr indent="0" lvl="0" marL="0" rtl="0" algn="ctr">
                        <a:spcBef>
                          <a:spcPts val="0"/>
                        </a:spcBef>
                        <a:spcAft>
                          <a:spcPts val="0"/>
                        </a:spcAft>
                        <a:buNone/>
                      </a:pPr>
                      <a:r>
                        <a:rPr lang="pt-BR" sz="2000">
                          <a:latin typeface="Oswald"/>
                          <a:ea typeface="Oswald"/>
                          <a:cs typeface="Oswald"/>
                          <a:sym typeface="Oswald"/>
                        </a:rPr>
                        <a:t>Órgãos de direção setorial, relatórios dos indicadores, benchmarking e legislação</a:t>
                      </a:r>
                      <a:endParaRPr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AB40"/>
                    </a:solidFill>
                  </a:tcPr>
                </a:tc>
              </a:tr>
              <a:tr h="818525">
                <a:tc>
                  <a:txBody>
                    <a:bodyPr/>
                    <a:lstStyle/>
                    <a:p>
                      <a:pPr indent="0" lvl="0" marL="0" rtl="0" algn="ctr">
                        <a:spcBef>
                          <a:spcPts val="0"/>
                        </a:spcBef>
                        <a:spcAft>
                          <a:spcPts val="0"/>
                        </a:spcAft>
                        <a:buNone/>
                      </a:pPr>
                      <a:r>
                        <a:rPr lang="pt-BR" sz="2000">
                          <a:latin typeface="Oswald"/>
                          <a:ea typeface="Oswald"/>
                          <a:cs typeface="Oswald"/>
                          <a:sym typeface="Oswald"/>
                        </a:rPr>
                        <a:t>Construção do portfólio de iniciativas</a:t>
                      </a:r>
                      <a:endParaRPr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4285F4"/>
                    </a:solidFill>
                  </a:tcPr>
                </a:tc>
                <a:tc>
                  <a:txBody>
                    <a:bodyPr/>
                    <a:lstStyle/>
                    <a:p>
                      <a:pPr indent="0" lvl="0" marL="0" rtl="0" algn="ctr">
                        <a:spcBef>
                          <a:spcPts val="0"/>
                        </a:spcBef>
                        <a:spcAft>
                          <a:spcPts val="0"/>
                        </a:spcAft>
                        <a:buNone/>
                      </a:pPr>
                      <a:r>
                        <a:rPr lang="pt-BR" sz="2000">
                          <a:latin typeface="Oswald"/>
                          <a:ea typeface="Oswald"/>
                          <a:cs typeface="Oswald"/>
                          <a:sym typeface="Oswald"/>
                        </a:rPr>
                        <a:t>Órgãos de direção setorial, Grupos Técnicos de Trabalho.</a:t>
                      </a:r>
                      <a:endParaRPr sz="2000">
                        <a:latin typeface="Oswald"/>
                        <a:ea typeface="Oswald"/>
                        <a:cs typeface="Oswald"/>
                        <a:sym typeface="Oswal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FFAB40"/>
                    </a:solidFill>
                  </a:tcPr>
                </a:tc>
              </a:tr>
            </a:tbl>
          </a:graphicData>
        </a:graphic>
      </p:graphicFrame>
      <p:sp>
        <p:nvSpPr>
          <p:cNvPr id="169" name="Google Shape;169;p28"/>
          <p:cNvSpPr/>
          <p:nvPr/>
        </p:nvSpPr>
        <p:spPr>
          <a:xfrm>
            <a:off x="101150" y="3597175"/>
            <a:ext cx="544800" cy="2280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8"/>
          <p:cNvSpPr/>
          <p:nvPr/>
        </p:nvSpPr>
        <p:spPr>
          <a:xfrm>
            <a:off x="101150" y="2835175"/>
            <a:ext cx="544800" cy="2280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174" name="Shape 174"/>
        <p:cNvGrpSpPr/>
        <p:nvPr/>
      </p:nvGrpSpPr>
      <p:grpSpPr>
        <a:xfrm>
          <a:off x="0" y="0"/>
          <a:ext cx="0" cy="0"/>
          <a:chOff x="0" y="0"/>
          <a:chExt cx="0" cy="0"/>
        </a:xfrm>
      </p:grpSpPr>
      <p:sp>
        <p:nvSpPr>
          <p:cNvPr id="175" name="Google Shape;175;p29"/>
          <p:cNvSpPr/>
          <p:nvPr/>
        </p:nvSpPr>
        <p:spPr>
          <a:xfrm>
            <a:off x="-10614" y="-7961"/>
            <a:ext cx="9156000" cy="5171100"/>
          </a:xfrm>
          <a:prstGeom prst="rect">
            <a:avLst/>
          </a:prstGeom>
          <a:solidFill>
            <a:srgbClr val="FFFFFF"/>
          </a:solidFill>
          <a:ln>
            <a:noFill/>
          </a:ln>
        </p:spPr>
        <p:txBody>
          <a:bodyPr anchorCtr="0" anchor="ctr"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457200" rtl="0" algn="l">
              <a:lnSpc>
                <a:spcPct val="115000"/>
              </a:lnSpc>
              <a:spcBef>
                <a:spcPts val="1200"/>
              </a:spcBef>
              <a:spcAft>
                <a:spcPts val="0"/>
              </a:spcAft>
              <a:buNone/>
            </a:pPr>
            <a:r>
              <a:t/>
            </a:r>
            <a:endParaRPr sz="1700">
              <a:highlight>
                <a:schemeClr val="lt1"/>
              </a:highlight>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176" name="Google Shape;176;p29"/>
          <p:cNvSpPr txBox="1"/>
          <p:nvPr/>
        </p:nvSpPr>
        <p:spPr>
          <a:xfrm>
            <a:off x="565568" y="1003362"/>
            <a:ext cx="8054400" cy="24630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Clr>
                <a:srgbClr val="000000"/>
              </a:buClr>
              <a:buSzPts val="1600"/>
              <a:buFont typeface="Arial"/>
              <a:buNone/>
            </a:pPr>
            <a:r>
              <a:rPr b="0" i="0" lang="pt-BR" sz="1600" u="none" cap="none" strike="noStrike">
                <a:solidFill>
                  <a:srgbClr val="000000"/>
                </a:solidFill>
                <a:latin typeface="Oswald"/>
                <a:ea typeface="Oswald"/>
                <a:cs typeface="Oswald"/>
                <a:sym typeface="Oswald"/>
              </a:rPr>
              <a:t> </a:t>
            </a:r>
            <a:endParaRPr b="0" i="0" sz="1600" u="none" cap="none" strike="noStrike">
              <a:solidFill>
                <a:srgbClr val="000000"/>
              </a:solidFill>
              <a:latin typeface="Arial"/>
              <a:ea typeface="Arial"/>
              <a:cs typeface="Arial"/>
              <a:sym typeface="Arial"/>
            </a:endParaRPr>
          </a:p>
        </p:txBody>
      </p:sp>
      <p:sp>
        <p:nvSpPr>
          <p:cNvPr id="177" name="Google Shape;177;p29"/>
          <p:cNvSpPr txBox="1"/>
          <p:nvPr>
            <p:ph idx="4294967295" type="title"/>
          </p:nvPr>
        </p:nvSpPr>
        <p:spPr>
          <a:xfrm>
            <a:off x="165250" y="2065650"/>
            <a:ext cx="1593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1640">
                <a:solidFill>
                  <a:srgbClr val="DC1B13"/>
                </a:solidFill>
                <a:latin typeface="Oswald"/>
                <a:ea typeface="Oswald"/>
                <a:cs typeface="Oswald"/>
                <a:sym typeface="Oswald"/>
              </a:rPr>
              <a:t>O Processo de Planejamento Estratégico do CBMAL</a:t>
            </a:r>
            <a:endParaRPr sz="920">
              <a:solidFill>
                <a:srgbClr val="DC1B13"/>
              </a:solidFill>
              <a:highlight>
                <a:srgbClr val="FFFFFF"/>
              </a:highlight>
              <a:latin typeface="Oswald"/>
              <a:ea typeface="Oswald"/>
              <a:cs typeface="Oswald"/>
              <a:sym typeface="Oswald"/>
            </a:endParaRPr>
          </a:p>
          <a:p>
            <a:pPr indent="0" lvl="0" marL="0" rtl="0" algn="l">
              <a:spcBef>
                <a:spcPts val="0"/>
              </a:spcBef>
              <a:spcAft>
                <a:spcPts val="0"/>
              </a:spcAft>
              <a:buSzPts val="990"/>
              <a:buNone/>
            </a:pPr>
            <a:r>
              <a:t/>
            </a:r>
            <a:endParaRPr sz="1640">
              <a:solidFill>
                <a:srgbClr val="DC1B13"/>
              </a:solidFill>
              <a:latin typeface="Oswald"/>
              <a:ea typeface="Oswald"/>
              <a:cs typeface="Oswald"/>
              <a:sym typeface="Oswald"/>
            </a:endParaRPr>
          </a:p>
        </p:txBody>
      </p:sp>
      <p:pic>
        <p:nvPicPr>
          <p:cNvPr id="178" name="Google Shape;178;p29"/>
          <p:cNvPicPr preferRelativeResize="0"/>
          <p:nvPr/>
        </p:nvPicPr>
        <p:blipFill rotWithShape="1">
          <a:blip r:embed="rId3">
            <a:alphaModFix/>
          </a:blip>
          <a:srcRect b="16770" l="0" r="0" t="0"/>
          <a:stretch/>
        </p:blipFill>
        <p:spPr>
          <a:xfrm>
            <a:off x="1473193" y="0"/>
            <a:ext cx="7670810" cy="5143500"/>
          </a:xfrm>
          <a:prstGeom prst="rect">
            <a:avLst/>
          </a:prstGeom>
          <a:noFill/>
          <a:ln>
            <a:noFill/>
          </a:ln>
        </p:spPr>
      </p:pic>
      <p:sp>
        <p:nvSpPr>
          <p:cNvPr id="179" name="Google Shape;179;p29"/>
          <p:cNvSpPr/>
          <p:nvPr/>
        </p:nvSpPr>
        <p:spPr>
          <a:xfrm>
            <a:off x="6030125" y="163950"/>
            <a:ext cx="544800" cy="2280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183" name="Shape 183"/>
        <p:cNvGrpSpPr/>
        <p:nvPr/>
      </p:nvGrpSpPr>
      <p:grpSpPr>
        <a:xfrm>
          <a:off x="0" y="0"/>
          <a:ext cx="0" cy="0"/>
          <a:chOff x="0" y="0"/>
          <a:chExt cx="0" cy="0"/>
        </a:xfrm>
      </p:grpSpPr>
      <p:sp>
        <p:nvSpPr>
          <p:cNvPr id="184" name="Google Shape;184;p30"/>
          <p:cNvSpPr/>
          <p:nvPr/>
        </p:nvSpPr>
        <p:spPr>
          <a:xfrm>
            <a:off x="-10614" y="-7961"/>
            <a:ext cx="9156000" cy="5171100"/>
          </a:xfrm>
          <a:prstGeom prst="rect">
            <a:avLst/>
          </a:prstGeom>
          <a:solidFill>
            <a:srgbClr val="FFFFFF"/>
          </a:solidFill>
          <a:ln>
            <a:noFill/>
          </a:ln>
        </p:spPr>
        <p:txBody>
          <a:bodyPr anchorCtr="0" anchor="ctr"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45720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457200" rtl="0" algn="just">
              <a:lnSpc>
                <a:spcPct val="200000"/>
              </a:lnSpc>
              <a:spcBef>
                <a:spcPts val="1200"/>
              </a:spcBef>
              <a:spcAft>
                <a:spcPts val="0"/>
              </a:spcAft>
              <a:buNone/>
            </a:pPr>
            <a:r>
              <a:rPr lang="pt-BR" sz="2000">
                <a:highlight>
                  <a:schemeClr val="lt1"/>
                </a:highlight>
                <a:latin typeface="Oswald"/>
                <a:ea typeface="Oswald"/>
                <a:cs typeface="Oswald"/>
                <a:sym typeface="Oswald"/>
              </a:rPr>
              <a:t>“Identidade organizacional refere-se aos atributos centrais, distintivos e duradouros que definem uma organização, sendo reconhecidos tanto internamente pelos seus membros quanto externamente pelos stakeholders.”</a:t>
            </a:r>
            <a:endParaRPr sz="2000">
              <a:highlight>
                <a:schemeClr val="lt1"/>
              </a:highlight>
              <a:latin typeface="Oswald"/>
              <a:ea typeface="Oswald"/>
              <a:cs typeface="Oswald"/>
              <a:sym typeface="Oswald"/>
            </a:endParaRPr>
          </a:p>
          <a:p>
            <a:pPr indent="0" lvl="0" marL="457200" rtl="0" algn="l">
              <a:lnSpc>
                <a:spcPct val="200000"/>
              </a:lnSpc>
              <a:spcBef>
                <a:spcPts val="1200"/>
              </a:spcBef>
              <a:spcAft>
                <a:spcPts val="0"/>
              </a:spcAft>
              <a:buNone/>
            </a:pPr>
            <a:r>
              <a:rPr lang="pt-BR" sz="2000">
                <a:solidFill>
                  <a:schemeClr val="dk1"/>
                </a:solidFill>
                <a:highlight>
                  <a:schemeClr val="lt1"/>
                </a:highlight>
                <a:latin typeface="Oswald"/>
                <a:ea typeface="Oswald"/>
                <a:cs typeface="Oswald"/>
                <a:sym typeface="Oswald"/>
              </a:rPr>
              <a:t>Albert e Whetten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185" name="Google Shape;185;p30"/>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186" name="Google Shape;186;p30"/>
          <p:cNvSpPr txBox="1"/>
          <p:nvPr/>
        </p:nvSpPr>
        <p:spPr>
          <a:xfrm>
            <a:off x="152400" y="319575"/>
            <a:ext cx="48477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Identidade Organizacional</a:t>
            </a:r>
            <a:endParaRPr b="0" i="0" sz="1200" u="none" cap="none" strike="noStrike">
              <a:solidFill>
                <a:srgbClr val="000000"/>
              </a:solidFill>
              <a:latin typeface="Arial"/>
              <a:ea typeface="Arial"/>
              <a:cs typeface="Arial"/>
              <a:sym typeface="Arial"/>
            </a:endParaRPr>
          </a:p>
        </p:txBody>
      </p:sp>
      <p:sp>
        <p:nvSpPr>
          <p:cNvPr id="187" name="Google Shape;187;p30"/>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188" name="Google Shape;188;p30"/>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189" name="Google Shape;189;p30"/>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193" name="Shape 193"/>
        <p:cNvGrpSpPr/>
        <p:nvPr/>
      </p:nvGrpSpPr>
      <p:grpSpPr>
        <a:xfrm>
          <a:off x="0" y="0"/>
          <a:ext cx="0" cy="0"/>
          <a:chOff x="0" y="0"/>
          <a:chExt cx="0" cy="0"/>
        </a:xfrm>
      </p:grpSpPr>
      <p:sp>
        <p:nvSpPr>
          <p:cNvPr id="194" name="Google Shape;194;p31"/>
          <p:cNvSpPr/>
          <p:nvPr/>
        </p:nvSpPr>
        <p:spPr>
          <a:xfrm>
            <a:off x="-10614" y="-7961"/>
            <a:ext cx="9156000" cy="5171100"/>
          </a:xfrm>
          <a:prstGeom prst="rect">
            <a:avLst/>
          </a:prstGeom>
          <a:solidFill>
            <a:srgbClr val="FFFFFF"/>
          </a:solidFill>
          <a:ln>
            <a:noFill/>
          </a:ln>
        </p:spPr>
        <p:txBody>
          <a:bodyPr anchorCtr="0" anchor="ctr"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45720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457200" rtl="0" algn="just">
              <a:lnSpc>
                <a:spcPct val="200000"/>
              </a:lnSpc>
              <a:spcBef>
                <a:spcPts val="1200"/>
              </a:spcBef>
              <a:spcAft>
                <a:spcPts val="0"/>
              </a:spcAft>
              <a:buNone/>
            </a:pPr>
            <a:r>
              <a:rPr lang="pt-BR" sz="2000">
                <a:highlight>
                  <a:schemeClr val="lt1"/>
                </a:highlight>
                <a:latin typeface="Oswald"/>
                <a:ea typeface="Oswald"/>
                <a:cs typeface="Oswald"/>
                <a:sym typeface="Oswald"/>
              </a:rPr>
              <a:t>“Identidade organizacional pode ser interpretada como manifestação da estratégia da empresa desenhada em sua visão e missão organizacionais e que se reflete nas suas operações e atividades.”</a:t>
            </a:r>
            <a:endParaRPr sz="2000">
              <a:highlight>
                <a:schemeClr val="lt1"/>
              </a:highlight>
              <a:latin typeface="Oswald"/>
              <a:ea typeface="Oswald"/>
              <a:cs typeface="Oswald"/>
              <a:sym typeface="Oswald"/>
            </a:endParaRPr>
          </a:p>
          <a:p>
            <a:pPr indent="0" lvl="0" marL="457200" rtl="0" algn="l">
              <a:lnSpc>
                <a:spcPct val="200000"/>
              </a:lnSpc>
              <a:spcBef>
                <a:spcPts val="1200"/>
              </a:spcBef>
              <a:spcAft>
                <a:spcPts val="0"/>
              </a:spcAft>
              <a:buNone/>
            </a:pPr>
            <a:r>
              <a:rPr lang="pt-BR" sz="2000">
                <a:highlight>
                  <a:schemeClr val="lt1"/>
                </a:highlight>
                <a:latin typeface="Oswald"/>
                <a:ea typeface="Oswald"/>
                <a:cs typeface="Oswald"/>
                <a:sym typeface="Oswald"/>
              </a:rPr>
              <a:t>Melewar e Karaosmanoglu</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195" name="Google Shape;195;p31"/>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196" name="Google Shape;196;p31"/>
          <p:cNvSpPr txBox="1"/>
          <p:nvPr/>
        </p:nvSpPr>
        <p:spPr>
          <a:xfrm>
            <a:off x="152400" y="319575"/>
            <a:ext cx="89916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Identidade Organizacional     Missão, visão e valores</a:t>
            </a:r>
            <a:endParaRPr b="0" i="0" sz="1200" u="none" cap="none" strike="noStrike">
              <a:solidFill>
                <a:srgbClr val="000000"/>
              </a:solidFill>
              <a:latin typeface="Arial"/>
              <a:ea typeface="Arial"/>
              <a:cs typeface="Arial"/>
              <a:sym typeface="Arial"/>
            </a:endParaRPr>
          </a:p>
        </p:txBody>
      </p:sp>
      <p:sp>
        <p:nvSpPr>
          <p:cNvPr id="197" name="Google Shape;197;p31"/>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198" name="Google Shape;198;p31"/>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199" name="Google Shape;199;p31"/>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200" name="Google Shape;200;p31"/>
          <p:cNvSpPr/>
          <p:nvPr/>
        </p:nvSpPr>
        <p:spPr>
          <a:xfrm>
            <a:off x="4661900" y="496575"/>
            <a:ext cx="380100" cy="153900"/>
          </a:xfrm>
          <a:prstGeom prst="leftRightArrow">
            <a:avLst>
              <a:gd fmla="val 50000" name="adj1"/>
              <a:gd fmla="val 50000" name="adj2"/>
            </a:avLst>
          </a:prstGeom>
          <a:solidFill>
            <a:srgbClr val="DC1B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204" name="Shape 204"/>
        <p:cNvGrpSpPr/>
        <p:nvPr/>
      </p:nvGrpSpPr>
      <p:grpSpPr>
        <a:xfrm>
          <a:off x="0" y="0"/>
          <a:ext cx="0" cy="0"/>
          <a:chOff x="0" y="0"/>
          <a:chExt cx="0" cy="0"/>
        </a:xfrm>
      </p:grpSpPr>
      <p:sp>
        <p:nvSpPr>
          <p:cNvPr id="205" name="Google Shape;205;p32"/>
          <p:cNvSpPr/>
          <p:nvPr/>
        </p:nvSpPr>
        <p:spPr>
          <a:xfrm>
            <a:off x="-10614" y="-7961"/>
            <a:ext cx="9156000" cy="5171100"/>
          </a:xfrm>
          <a:prstGeom prst="rect">
            <a:avLst/>
          </a:prstGeom>
          <a:solidFill>
            <a:srgbClr val="FFFFFF"/>
          </a:solidFill>
          <a:ln>
            <a:noFill/>
          </a:ln>
        </p:spPr>
        <p:txBody>
          <a:bodyPr anchorCtr="0" anchor="ctr"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45720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457200" rtl="0" algn="l">
              <a:lnSpc>
                <a:spcPct val="200000"/>
              </a:lnSpc>
              <a:spcBef>
                <a:spcPts val="1200"/>
              </a:spcBef>
              <a:spcAft>
                <a:spcPts val="0"/>
              </a:spcAft>
              <a:buNone/>
            </a:pPr>
            <a:r>
              <a:rPr lang="pt-BR" sz="2000">
                <a:highlight>
                  <a:schemeClr val="lt1"/>
                </a:highlight>
                <a:latin typeface="Oswald"/>
                <a:ea typeface="Oswald"/>
                <a:cs typeface="Oswald"/>
                <a:sym typeface="Oswald"/>
              </a:rPr>
              <a:t>“M</a:t>
            </a:r>
            <a:r>
              <a:rPr lang="pt-BR" sz="2000">
                <a:highlight>
                  <a:schemeClr val="lt1"/>
                </a:highlight>
                <a:latin typeface="Oswald"/>
                <a:ea typeface="Oswald"/>
                <a:cs typeface="Oswald"/>
                <a:sym typeface="Oswald"/>
              </a:rPr>
              <a:t>issão, visão e valores (MVV) são o ponto de partida para criação de uma estratégia organizacional</a:t>
            </a:r>
            <a:r>
              <a:rPr lang="pt-BR" sz="2000">
                <a:highlight>
                  <a:schemeClr val="lt1"/>
                </a:highlight>
                <a:latin typeface="Oswald"/>
                <a:ea typeface="Oswald"/>
                <a:cs typeface="Oswald"/>
                <a:sym typeface="Oswald"/>
              </a:rPr>
              <a:t>.”</a:t>
            </a:r>
            <a:endParaRPr sz="2000">
              <a:highlight>
                <a:schemeClr val="lt1"/>
              </a:highlight>
              <a:latin typeface="Oswald"/>
              <a:ea typeface="Oswald"/>
              <a:cs typeface="Oswald"/>
              <a:sym typeface="Oswald"/>
            </a:endParaRPr>
          </a:p>
          <a:p>
            <a:pPr indent="0" lvl="0" marL="457200" rtl="0" algn="l">
              <a:lnSpc>
                <a:spcPct val="200000"/>
              </a:lnSpc>
              <a:spcBef>
                <a:spcPts val="1200"/>
              </a:spcBef>
              <a:spcAft>
                <a:spcPts val="0"/>
              </a:spcAft>
              <a:buNone/>
            </a:pPr>
            <a:r>
              <a:rPr lang="pt-BR" sz="2000">
                <a:solidFill>
                  <a:schemeClr val="dk1"/>
                </a:solidFill>
                <a:highlight>
                  <a:schemeClr val="lt1"/>
                </a:highlight>
                <a:latin typeface="Oswald"/>
                <a:ea typeface="Oswald"/>
                <a:cs typeface="Oswald"/>
                <a:sym typeface="Oswald"/>
              </a:rPr>
              <a:t>Kaplan e Norton</a:t>
            </a:r>
            <a:r>
              <a:rPr lang="pt-BR" sz="2000">
                <a:solidFill>
                  <a:schemeClr val="dk1"/>
                </a:solidFill>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206" name="Google Shape;206;p32"/>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207" name="Google Shape;207;p32"/>
          <p:cNvSpPr txBox="1"/>
          <p:nvPr/>
        </p:nvSpPr>
        <p:spPr>
          <a:xfrm>
            <a:off x="152400" y="319575"/>
            <a:ext cx="87789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Missão, visão e valores</a:t>
            </a:r>
            <a:endParaRPr b="0" i="0" sz="1200" u="none" cap="none" strike="noStrike">
              <a:solidFill>
                <a:srgbClr val="000000"/>
              </a:solidFill>
              <a:latin typeface="Arial"/>
              <a:ea typeface="Arial"/>
              <a:cs typeface="Arial"/>
              <a:sym typeface="Arial"/>
            </a:endParaRPr>
          </a:p>
        </p:txBody>
      </p:sp>
      <p:sp>
        <p:nvSpPr>
          <p:cNvPr id="208" name="Google Shape;208;p32"/>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209" name="Google Shape;209;p32"/>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210" name="Google Shape;210;p32"/>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214" name="Shape 214"/>
        <p:cNvGrpSpPr/>
        <p:nvPr/>
      </p:nvGrpSpPr>
      <p:grpSpPr>
        <a:xfrm>
          <a:off x="0" y="0"/>
          <a:ext cx="0" cy="0"/>
          <a:chOff x="0" y="0"/>
          <a:chExt cx="0" cy="0"/>
        </a:xfrm>
      </p:grpSpPr>
      <p:sp>
        <p:nvSpPr>
          <p:cNvPr id="215" name="Google Shape;215;p33"/>
          <p:cNvSpPr/>
          <p:nvPr/>
        </p:nvSpPr>
        <p:spPr>
          <a:xfrm>
            <a:off x="-10614" y="-7961"/>
            <a:ext cx="9156000" cy="5171100"/>
          </a:xfrm>
          <a:prstGeom prst="rect">
            <a:avLst/>
          </a:prstGeom>
          <a:solidFill>
            <a:srgbClr val="FFFFFF"/>
          </a:solidFill>
          <a:ln>
            <a:noFill/>
          </a:ln>
        </p:spPr>
        <p:txBody>
          <a:bodyPr anchorCtr="0" anchor="ctr"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45720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457200" rtl="0" algn="l">
              <a:lnSpc>
                <a:spcPct val="200000"/>
              </a:lnSpc>
              <a:spcBef>
                <a:spcPts val="1200"/>
              </a:spcBef>
              <a:spcAft>
                <a:spcPts val="0"/>
              </a:spcAft>
              <a:buNone/>
            </a:pPr>
            <a:r>
              <a:rPr lang="pt-BR" sz="2000">
                <a:highlight>
                  <a:schemeClr val="lt1"/>
                </a:highlight>
                <a:latin typeface="Oswald"/>
                <a:ea typeface="Oswald"/>
                <a:cs typeface="Oswald"/>
                <a:sym typeface="Oswald"/>
              </a:rPr>
              <a:t>“</a:t>
            </a:r>
            <a:r>
              <a:rPr lang="pt-BR" sz="2000">
                <a:highlight>
                  <a:schemeClr val="lt1"/>
                </a:highlight>
                <a:latin typeface="Oswald"/>
                <a:ea typeface="Oswald"/>
                <a:cs typeface="Oswald"/>
                <a:sym typeface="Oswald"/>
              </a:rPr>
              <a:t>A missão consiste no propósito, na razão que justifica a existência do órgão ou entidade da Administração Pública. </a:t>
            </a:r>
            <a:r>
              <a:rPr lang="pt-BR" sz="2000">
                <a:highlight>
                  <a:schemeClr val="lt1"/>
                </a:highlight>
                <a:latin typeface="Oswald"/>
                <a:ea typeface="Oswald"/>
                <a:cs typeface="Oswald"/>
                <a:sym typeface="Oswald"/>
              </a:rPr>
              <a:t>”</a:t>
            </a:r>
            <a:endParaRPr sz="2000">
              <a:highlight>
                <a:schemeClr val="lt1"/>
              </a:highlight>
              <a:latin typeface="Oswald"/>
              <a:ea typeface="Oswald"/>
              <a:cs typeface="Oswald"/>
              <a:sym typeface="Oswald"/>
            </a:endParaRPr>
          </a:p>
          <a:p>
            <a:pPr indent="0" lvl="0" marL="457200" rtl="0" algn="l">
              <a:lnSpc>
                <a:spcPct val="200000"/>
              </a:lnSpc>
              <a:spcBef>
                <a:spcPts val="1200"/>
              </a:spcBef>
              <a:spcAft>
                <a:spcPts val="0"/>
              </a:spcAft>
              <a:buNone/>
            </a:pPr>
            <a:r>
              <a:rPr lang="pt-BR" sz="2000">
                <a:highlight>
                  <a:schemeClr val="lt1"/>
                </a:highlight>
                <a:latin typeface="Oswald"/>
                <a:ea typeface="Oswald"/>
                <a:cs typeface="Oswald"/>
                <a:sym typeface="Oswald"/>
              </a:rPr>
              <a:t>SIG, 2019</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216" name="Google Shape;216;p33"/>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217" name="Google Shape;217;p33"/>
          <p:cNvSpPr txBox="1"/>
          <p:nvPr/>
        </p:nvSpPr>
        <p:spPr>
          <a:xfrm>
            <a:off x="152400" y="319575"/>
            <a:ext cx="48477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Missão: conceito</a:t>
            </a:r>
            <a:endParaRPr b="0" i="0" sz="1200" u="none" cap="none" strike="noStrike">
              <a:solidFill>
                <a:srgbClr val="000000"/>
              </a:solidFill>
              <a:latin typeface="Arial"/>
              <a:ea typeface="Arial"/>
              <a:cs typeface="Arial"/>
              <a:sym typeface="Arial"/>
            </a:endParaRPr>
          </a:p>
        </p:txBody>
      </p:sp>
      <p:sp>
        <p:nvSpPr>
          <p:cNvPr id="218" name="Google Shape;218;p33"/>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219" name="Google Shape;219;p33"/>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220" name="Google Shape;220;p33"/>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224" name="Shape 224"/>
        <p:cNvGrpSpPr/>
        <p:nvPr/>
      </p:nvGrpSpPr>
      <p:grpSpPr>
        <a:xfrm>
          <a:off x="0" y="0"/>
          <a:ext cx="0" cy="0"/>
          <a:chOff x="0" y="0"/>
          <a:chExt cx="0" cy="0"/>
        </a:xfrm>
      </p:grpSpPr>
      <p:sp>
        <p:nvSpPr>
          <p:cNvPr id="225" name="Google Shape;225;p34"/>
          <p:cNvSpPr/>
          <p:nvPr/>
        </p:nvSpPr>
        <p:spPr>
          <a:xfrm>
            <a:off x="-10614" y="-7961"/>
            <a:ext cx="9156000" cy="5171100"/>
          </a:xfrm>
          <a:prstGeom prst="rect">
            <a:avLst/>
          </a:prstGeom>
          <a:solidFill>
            <a:srgbClr val="FFFFFF"/>
          </a:solidFill>
          <a:ln>
            <a:noFill/>
          </a:ln>
        </p:spPr>
        <p:txBody>
          <a:bodyPr anchorCtr="0" anchor="ctr"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45720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457200" rtl="0" algn="l">
              <a:lnSpc>
                <a:spcPct val="200000"/>
              </a:lnSpc>
              <a:spcBef>
                <a:spcPts val="1200"/>
              </a:spcBef>
              <a:spcAft>
                <a:spcPts val="0"/>
              </a:spcAft>
              <a:buNone/>
            </a:pPr>
            <a:r>
              <a:rPr lang="pt-BR" sz="2000">
                <a:highlight>
                  <a:schemeClr val="lt1"/>
                </a:highlight>
                <a:latin typeface="Oswald"/>
                <a:ea typeface="Oswald"/>
                <a:cs typeface="Oswald"/>
                <a:sym typeface="Oswald"/>
              </a:rPr>
              <a:t>“É</a:t>
            </a:r>
            <a:r>
              <a:rPr lang="pt-BR" sz="2000">
                <a:highlight>
                  <a:schemeClr val="lt1"/>
                </a:highlight>
                <a:latin typeface="Oswald"/>
                <a:ea typeface="Oswald"/>
                <a:cs typeface="Oswald"/>
                <a:sym typeface="Oswald"/>
              </a:rPr>
              <a:t> a posição que queremos ocupar num cenário futuro, seja na estrutura atual, seja em uma nova composição organizacional. Deve ser uma imagem ambiciosa de um estado que deseja alcançar em longo prazo.</a:t>
            </a:r>
            <a:r>
              <a:rPr lang="pt-BR" sz="2000">
                <a:highlight>
                  <a:schemeClr val="lt1"/>
                </a:highlight>
                <a:latin typeface="Oswald"/>
                <a:ea typeface="Oswald"/>
                <a:cs typeface="Oswald"/>
                <a:sym typeface="Oswald"/>
              </a:rPr>
              <a:t>”</a:t>
            </a:r>
            <a:endParaRPr sz="2000">
              <a:highlight>
                <a:schemeClr val="lt1"/>
              </a:highlight>
              <a:latin typeface="Oswald"/>
              <a:ea typeface="Oswald"/>
              <a:cs typeface="Oswald"/>
              <a:sym typeface="Oswald"/>
            </a:endParaRPr>
          </a:p>
          <a:p>
            <a:pPr indent="0" lvl="0" marL="457200" rtl="0" algn="l">
              <a:lnSpc>
                <a:spcPct val="200000"/>
              </a:lnSpc>
              <a:spcBef>
                <a:spcPts val="1200"/>
              </a:spcBef>
              <a:spcAft>
                <a:spcPts val="0"/>
              </a:spcAft>
              <a:buNone/>
            </a:pPr>
            <a:r>
              <a:rPr lang="pt-BR" sz="2000">
                <a:highlight>
                  <a:schemeClr val="lt1"/>
                </a:highlight>
                <a:latin typeface="Oswald"/>
                <a:ea typeface="Oswald"/>
                <a:cs typeface="Oswald"/>
                <a:sym typeface="Oswald"/>
              </a:rPr>
              <a:t>CBMMS</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226" name="Google Shape;226;p34"/>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227" name="Google Shape;227;p34"/>
          <p:cNvSpPr txBox="1"/>
          <p:nvPr/>
        </p:nvSpPr>
        <p:spPr>
          <a:xfrm>
            <a:off x="152400" y="319575"/>
            <a:ext cx="48477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Visão</a:t>
            </a:r>
            <a:r>
              <a:rPr b="1" lang="pt-BR" sz="3300">
                <a:solidFill>
                  <a:srgbClr val="DC1B13"/>
                </a:solidFill>
                <a:latin typeface="Oswald"/>
                <a:ea typeface="Oswald"/>
                <a:cs typeface="Oswald"/>
                <a:sym typeface="Oswald"/>
              </a:rPr>
              <a:t>: conceito</a:t>
            </a:r>
            <a:r>
              <a:rPr b="1" lang="pt-BR" sz="3300">
                <a:solidFill>
                  <a:srgbClr val="DC1B13"/>
                </a:solidFill>
                <a:latin typeface="Oswald"/>
                <a:ea typeface="Oswald"/>
                <a:cs typeface="Oswald"/>
                <a:sym typeface="Oswald"/>
              </a:rPr>
              <a:t> </a:t>
            </a:r>
            <a:endParaRPr b="0" i="0" sz="1200" u="none" cap="none" strike="noStrike">
              <a:solidFill>
                <a:srgbClr val="000000"/>
              </a:solidFill>
              <a:latin typeface="Arial"/>
              <a:ea typeface="Arial"/>
              <a:cs typeface="Arial"/>
              <a:sym typeface="Arial"/>
            </a:endParaRPr>
          </a:p>
        </p:txBody>
      </p:sp>
      <p:sp>
        <p:nvSpPr>
          <p:cNvPr id="228" name="Google Shape;228;p34"/>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229" name="Google Shape;229;p34"/>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230" name="Google Shape;230;p34"/>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234" name="Shape 234"/>
        <p:cNvGrpSpPr/>
        <p:nvPr/>
      </p:nvGrpSpPr>
      <p:grpSpPr>
        <a:xfrm>
          <a:off x="0" y="0"/>
          <a:ext cx="0" cy="0"/>
          <a:chOff x="0" y="0"/>
          <a:chExt cx="0" cy="0"/>
        </a:xfrm>
      </p:grpSpPr>
      <p:sp>
        <p:nvSpPr>
          <p:cNvPr id="235" name="Google Shape;235;p35"/>
          <p:cNvSpPr/>
          <p:nvPr/>
        </p:nvSpPr>
        <p:spPr>
          <a:xfrm>
            <a:off x="-10614" y="-7961"/>
            <a:ext cx="9156000" cy="5171100"/>
          </a:xfrm>
          <a:prstGeom prst="rect">
            <a:avLst/>
          </a:prstGeom>
          <a:solidFill>
            <a:srgbClr val="FFFFFF"/>
          </a:solidFill>
          <a:ln>
            <a:noFill/>
          </a:ln>
        </p:spPr>
        <p:txBody>
          <a:bodyPr anchorCtr="0" anchor="ctr"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457200" rtl="0" algn="just">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457200" rtl="0" algn="just">
              <a:lnSpc>
                <a:spcPct val="200000"/>
              </a:lnSpc>
              <a:spcBef>
                <a:spcPts val="1200"/>
              </a:spcBef>
              <a:spcAft>
                <a:spcPts val="0"/>
              </a:spcAft>
              <a:buNone/>
            </a:pPr>
            <a:r>
              <a:rPr lang="pt-BR" sz="2000">
                <a:highlight>
                  <a:schemeClr val="lt1"/>
                </a:highlight>
                <a:latin typeface="Oswald"/>
                <a:ea typeface="Oswald"/>
                <a:cs typeface="Oswald"/>
                <a:sym typeface="Oswald"/>
              </a:rPr>
              <a:t>“</a:t>
            </a:r>
            <a:r>
              <a:rPr lang="pt-BR" sz="2000">
                <a:highlight>
                  <a:schemeClr val="lt1"/>
                </a:highlight>
                <a:latin typeface="Oswald"/>
                <a:ea typeface="Oswald"/>
                <a:cs typeface="Oswald"/>
                <a:sym typeface="Oswald"/>
              </a:rPr>
              <a:t>São as limitações éticas das ações explicitas da organização. Para serem viáveis, os valores precisam ser públicos, permitindo acesso amplo, claros, para permitir a compreensão de todos e obrigatório, orientando todas as situações. </a:t>
            </a:r>
            <a:r>
              <a:rPr lang="pt-BR" sz="2000">
                <a:highlight>
                  <a:schemeClr val="lt1"/>
                </a:highlight>
                <a:latin typeface="Oswald"/>
                <a:ea typeface="Oswald"/>
                <a:cs typeface="Oswald"/>
                <a:sym typeface="Oswald"/>
              </a:rPr>
              <a:t>”</a:t>
            </a:r>
            <a:endParaRPr sz="2000">
              <a:highlight>
                <a:schemeClr val="lt1"/>
              </a:highlight>
              <a:latin typeface="Oswald"/>
              <a:ea typeface="Oswald"/>
              <a:cs typeface="Oswald"/>
              <a:sym typeface="Oswald"/>
            </a:endParaRPr>
          </a:p>
          <a:p>
            <a:pPr indent="0" lvl="0" marL="457200" rtl="0" algn="l">
              <a:lnSpc>
                <a:spcPct val="200000"/>
              </a:lnSpc>
              <a:spcBef>
                <a:spcPts val="1200"/>
              </a:spcBef>
              <a:spcAft>
                <a:spcPts val="0"/>
              </a:spcAft>
              <a:buClr>
                <a:schemeClr val="dk1"/>
              </a:buClr>
              <a:buSzPts val="1100"/>
              <a:buFont typeface="Arial"/>
              <a:buNone/>
            </a:pPr>
            <a:r>
              <a:rPr lang="pt-BR" sz="2000">
                <a:solidFill>
                  <a:schemeClr val="dk1"/>
                </a:solidFill>
                <a:highlight>
                  <a:schemeClr val="lt1"/>
                </a:highlight>
                <a:latin typeface="Oswald"/>
                <a:ea typeface="Oswald"/>
                <a:cs typeface="Oswald"/>
                <a:sym typeface="Oswald"/>
              </a:rPr>
              <a:t>CBMMS</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236" name="Google Shape;236;p35"/>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237" name="Google Shape;237;p35"/>
          <p:cNvSpPr txBox="1"/>
          <p:nvPr/>
        </p:nvSpPr>
        <p:spPr>
          <a:xfrm>
            <a:off x="152400" y="319575"/>
            <a:ext cx="48477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Valores</a:t>
            </a:r>
            <a:r>
              <a:rPr b="1" lang="pt-BR" sz="3300">
                <a:solidFill>
                  <a:srgbClr val="DC1B13"/>
                </a:solidFill>
                <a:latin typeface="Oswald"/>
                <a:ea typeface="Oswald"/>
                <a:cs typeface="Oswald"/>
                <a:sym typeface="Oswald"/>
              </a:rPr>
              <a:t>: conceito</a:t>
            </a:r>
            <a:r>
              <a:rPr b="1" lang="pt-BR" sz="3300">
                <a:solidFill>
                  <a:srgbClr val="DC1B13"/>
                </a:solidFill>
                <a:latin typeface="Oswald"/>
                <a:ea typeface="Oswald"/>
                <a:cs typeface="Oswald"/>
                <a:sym typeface="Oswald"/>
              </a:rPr>
              <a:t> </a:t>
            </a:r>
            <a:endParaRPr b="0" i="0" sz="1200" u="none" cap="none" strike="noStrike">
              <a:solidFill>
                <a:srgbClr val="000000"/>
              </a:solidFill>
              <a:latin typeface="Arial"/>
              <a:ea typeface="Arial"/>
              <a:cs typeface="Arial"/>
              <a:sym typeface="Arial"/>
            </a:endParaRPr>
          </a:p>
        </p:txBody>
      </p:sp>
      <p:sp>
        <p:nvSpPr>
          <p:cNvPr id="238" name="Google Shape;238;p35"/>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239" name="Google Shape;239;p35"/>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240" name="Google Shape;240;p35"/>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244" name="Shape 244"/>
        <p:cNvGrpSpPr/>
        <p:nvPr/>
      </p:nvGrpSpPr>
      <p:grpSpPr>
        <a:xfrm>
          <a:off x="0" y="0"/>
          <a:ext cx="0" cy="0"/>
          <a:chOff x="0" y="0"/>
          <a:chExt cx="0" cy="0"/>
        </a:xfrm>
      </p:grpSpPr>
      <p:sp>
        <p:nvSpPr>
          <p:cNvPr id="245" name="Google Shape;245;p36"/>
          <p:cNvSpPr/>
          <p:nvPr/>
        </p:nvSpPr>
        <p:spPr>
          <a:xfrm>
            <a:off x="-10614" y="-7961"/>
            <a:ext cx="9156000" cy="5171100"/>
          </a:xfrm>
          <a:prstGeom prst="rect">
            <a:avLst/>
          </a:prstGeom>
          <a:solidFill>
            <a:srgbClr val="FFFFFF"/>
          </a:solidFill>
          <a:ln>
            <a:noFill/>
          </a:ln>
        </p:spPr>
        <p:txBody>
          <a:bodyPr anchorCtr="0" anchor="ctr"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457200" rtl="0" algn="l">
              <a:lnSpc>
                <a:spcPct val="115000"/>
              </a:lnSpc>
              <a:spcBef>
                <a:spcPts val="1200"/>
              </a:spcBef>
              <a:spcAft>
                <a:spcPts val="0"/>
              </a:spcAft>
              <a:buNone/>
            </a:pPr>
            <a:r>
              <a:t/>
            </a:r>
            <a:endParaRPr sz="1700">
              <a:highlight>
                <a:schemeClr val="lt1"/>
              </a:highlight>
            </a:endParaRPr>
          </a:p>
          <a:p>
            <a:pPr indent="0" lvl="0" marL="457200" rtl="0" algn="l">
              <a:lnSpc>
                <a:spcPct val="115000"/>
              </a:lnSpc>
              <a:spcBef>
                <a:spcPts val="1200"/>
              </a:spcBef>
              <a:spcAft>
                <a:spcPts val="0"/>
              </a:spcAft>
              <a:buNone/>
            </a:pPr>
            <a:r>
              <a:t/>
            </a:r>
            <a:endParaRPr sz="1700">
              <a:highlight>
                <a:schemeClr val="lt1"/>
              </a:highlight>
            </a:endParaRPr>
          </a:p>
          <a:p>
            <a:pPr indent="-355600" lvl="0" marL="457200" rtl="0" algn="l">
              <a:lnSpc>
                <a:spcPct val="115000"/>
              </a:lnSpc>
              <a:spcBef>
                <a:spcPts val="1200"/>
              </a:spcBef>
              <a:spcAft>
                <a:spcPts val="0"/>
              </a:spcAft>
              <a:buClr>
                <a:schemeClr val="dk1"/>
              </a:buClr>
              <a:buSzPts val="2000"/>
              <a:buChar char="➔"/>
            </a:pPr>
            <a:r>
              <a:rPr lang="pt-BR" sz="2000">
                <a:solidFill>
                  <a:schemeClr val="dk1"/>
                </a:solidFill>
                <a:highlight>
                  <a:schemeClr val="lt1"/>
                </a:highlight>
                <a:latin typeface="Oswald"/>
                <a:ea typeface="Oswald"/>
                <a:cs typeface="Oswald"/>
                <a:sym typeface="Oswald"/>
              </a:rPr>
              <a:t>Revisão bibliográfica e documental (planilha de </a:t>
            </a:r>
            <a:r>
              <a:rPr lang="pt-BR" sz="2000">
                <a:solidFill>
                  <a:schemeClr val="dk1"/>
                </a:solidFill>
                <a:latin typeface="Oswald"/>
                <a:ea typeface="Oswald"/>
                <a:cs typeface="Oswald"/>
                <a:sym typeface="Oswald"/>
              </a:rPr>
              <a:t>benchmarking);</a:t>
            </a:r>
            <a:endParaRPr sz="2000">
              <a:solidFill>
                <a:schemeClr val="dk1"/>
              </a:solidFill>
              <a:latin typeface="Oswald"/>
              <a:ea typeface="Oswald"/>
              <a:cs typeface="Oswald"/>
              <a:sym typeface="Oswald"/>
            </a:endParaRPr>
          </a:p>
          <a:p>
            <a:pPr indent="0" lvl="0" marL="914400" rtl="0" algn="l">
              <a:lnSpc>
                <a:spcPct val="115000"/>
              </a:lnSpc>
              <a:spcBef>
                <a:spcPts val="1200"/>
              </a:spcBef>
              <a:spcAft>
                <a:spcPts val="0"/>
              </a:spcAft>
              <a:buNone/>
            </a:pPr>
            <a:r>
              <a:t/>
            </a:r>
            <a:endParaRPr sz="2000">
              <a:solidFill>
                <a:schemeClr val="dk1"/>
              </a:solidFill>
              <a:latin typeface="Oswald"/>
              <a:ea typeface="Oswald"/>
              <a:cs typeface="Oswald"/>
              <a:sym typeface="Oswald"/>
            </a:endParaRPr>
          </a:p>
          <a:p>
            <a:pPr indent="-355600" lvl="0" marL="457200" rtl="0" algn="l">
              <a:lnSpc>
                <a:spcPct val="115000"/>
              </a:lnSpc>
              <a:spcBef>
                <a:spcPts val="1200"/>
              </a:spcBef>
              <a:spcAft>
                <a:spcPts val="0"/>
              </a:spcAft>
              <a:buClr>
                <a:schemeClr val="dk1"/>
              </a:buClr>
              <a:buSzPts val="2000"/>
              <a:buFont typeface="Oswald"/>
              <a:buChar char="➔"/>
            </a:pPr>
            <a:r>
              <a:rPr lang="pt-BR" sz="2000">
                <a:solidFill>
                  <a:schemeClr val="dk1"/>
                </a:solidFill>
                <a:latin typeface="Oswald"/>
                <a:ea typeface="Oswald"/>
                <a:cs typeface="Oswald"/>
                <a:sym typeface="Oswald"/>
              </a:rPr>
              <a:t>Análise quali-quantitativa.</a:t>
            </a:r>
            <a:endParaRPr sz="2000">
              <a:solidFill>
                <a:schemeClr val="dk1"/>
              </a:solidFill>
              <a:highlight>
                <a:schemeClr val="lt1"/>
              </a:highlight>
              <a:latin typeface="Oswald"/>
              <a:ea typeface="Oswald"/>
              <a:cs typeface="Oswald"/>
              <a:sym typeface="Oswald"/>
            </a:endParaRPr>
          </a:p>
          <a:p>
            <a:pPr indent="0" lvl="0" marL="45720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246" name="Google Shape;246;p36"/>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247" name="Google Shape;247;p36"/>
          <p:cNvSpPr txBox="1"/>
          <p:nvPr/>
        </p:nvSpPr>
        <p:spPr>
          <a:xfrm>
            <a:off x="152400" y="319575"/>
            <a:ext cx="48477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Metodologia </a:t>
            </a:r>
            <a:endParaRPr b="0" i="0" sz="1200" u="none" cap="none" strike="noStrike">
              <a:solidFill>
                <a:srgbClr val="000000"/>
              </a:solidFill>
              <a:latin typeface="Arial"/>
              <a:ea typeface="Arial"/>
              <a:cs typeface="Arial"/>
              <a:sym typeface="Arial"/>
            </a:endParaRPr>
          </a:p>
        </p:txBody>
      </p:sp>
      <p:sp>
        <p:nvSpPr>
          <p:cNvPr id="248" name="Google Shape;248;p36"/>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249" name="Google Shape;249;p36"/>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250" name="Google Shape;250;p36"/>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254" name="Shape 254"/>
        <p:cNvGrpSpPr/>
        <p:nvPr/>
      </p:nvGrpSpPr>
      <p:grpSpPr>
        <a:xfrm>
          <a:off x="0" y="0"/>
          <a:ext cx="0" cy="0"/>
          <a:chOff x="0" y="0"/>
          <a:chExt cx="0" cy="0"/>
        </a:xfrm>
      </p:grpSpPr>
      <p:sp>
        <p:nvSpPr>
          <p:cNvPr id="255" name="Google Shape;255;p37"/>
          <p:cNvSpPr/>
          <p:nvPr/>
        </p:nvSpPr>
        <p:spPr>
          <a:xfrm>
            <a:off x="-10614" y="-7961"/>
            <a:ext cx="9156000" cy="5171100"/>
          </a:xfrm>
          <a:prstGeom prst="rect">
            <a:avLst/>
          </a:prstGeom>
          <a:solidFill>
            <a:srgbClr val="FFFFFF"/>
          </a:solidFill>
          <a:ln>
            <a:noFill/>
          </a:ln>
        </p:spPr>
        <p:txBody>
          <a:bodyPr anchorCtr="0" anchor="ctr"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Atual (2020-2024): “Proteger a vida, o patrimônio e o meio ambiente.”</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Proposta: “</a:t>
            </a:r>
            <a:r>
              <a:rPr lang="pt-BR" sz="2000">
                <a:solidFill>
                  <a:schemeClr val="dk1"/>
                </a:solidFill>
                <a:latin typeface="Oswald"/>
                <a:ea typeface="Oswald"/>
                <a:cs typeface="Oswald"/>
                <a:sym typeface="Oswald"/>
              </a:rPr>
              <a:t>Proteger a vida, o meio ambiente e o patrimônio.”</a:t>
            </a:r>
            <a:endParaRPr sz="2000">
              <a:solidFill>
                <a:schemeClr val="dk1"/>
              </a:solidFill>
              <a:latin typeface="Oswald"/>
              <a:ea typeface="Oswald"/>
              <a:cs typeface="Oswald"/>
              <a:sym typeface="Oswald"/>
            </a:endParaRPr>
          </a:p>
          <a:p>
            <a:pPr indent="0" lvl="0" marL="0" rtl="0" algn="l">
              <a:lnSpc>
                <a:spcPct val="200000"/>
              </a:lnSpc>
              <a:spcBef>
                <a:spcPts val="1200"/>
              </a:spcBef>
              <a:spcAft>
                <a:spcPts val="0"/>
              </a:spcAft>
              <a:buNone/>
            </a:pPr>
            <a:r>
              <a:rPr lang="pt-BR" sz="2000">
                <a:solidFill>
                  <a:schemeClr val="accent1"/>
                </a:solidFill>
                <a:highlight>
                  <a:schemeClr val="lt1"/>
                </a:highlight>
                <a:latin typeface="Oswald"/>
                <a:ea typeface="Oswald"/>
                <a:cs typeface="Oswald"/>
                <a:sym typeface="Oswald"/>
              </a:rPr>
              <a:t>Aprovado: “</a:t>
            </a:r>
            <a:r>
              <a:rPr lang="pt-BR" sz="2000">
                <a:solidFill>
                  <a:schemeClr val="accent1"/>
                </a:solidFill>
                <a:latin typeface="Oswald"/>
                <a:ea typeface="Oswald"/>
                <a:cs typeface="Oswald"/>
                <a:sym typeface="Oswald"/>
              </a:rPr>
              <a:t>Proteger a vida, o meio ambiente e o patrimônio.</a:t>
            </a:r>
            <a:r>
              <a:rPr lang="pt-BR" sz="2000">
                <a:solidFill>
                  <a:schemeClr val="accent1"/>
                </a:solidFill>
                <a:highlight>
                  <a:schemeClr val="lt1"/>
                </a:highlight>
                <a:latin typeface="Oswald"/>
                <a:ea typeface="Oswald"/>
                <a:cs typeface="Oswald"/>
                <a:sym typeface="Oswald"/>
              </a:rPr>
              <a:t>”</a:t>
            </a:r>
            <a:endParaRPr sz="2000">
              <a:solidFill>
                <a:schemeClr val="accent1"/>
              </a:solidFill>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256" name="Google Shape;256;p37"/>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257" name="Google Shape;257;p37"/>
          <p:cNvSpPr txBox="1"/>
          <p:nvPr/>
        </p:nvSpPr>
        <p:spPr>
          <a:xfrm>
            <a:off x="152400" y="319575"/>
            <a:ext cx="60084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REVISÃO: Proposta de Missão  </a:t>
            </a:r>
            <a:endParaRPr b="0" i="0" sz="1200" u="none" cap="none" strike="noStrike">
              <a:solidFill>
                <a:srgbClr val="000000"/>
              </a:solidFill>
              <a:latin typeface="Arial"/>
              <a:ea typeface="Arial"/>
              <a:cs typeface="Arial"/>
              <a:sym typeface="Arial"/>
            </a:endParaRPr>
          </a:p>
        </p:txBody>
      </p:sp>
      <p:sp>
        <p:nvSpPr>
          <p:cNvPr id="258" name="Google Shape;258;p37"/>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259" name="Google Shape;259;p37"/>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260" name="Google Shape;260;p37"/>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264" name="Shape 264"/>
        <p:cNvGrpSpPr/>
        <p:nvPr/>
      </p:nvGrpSpPr>
      <p:grpSpPr>
        <a:xfrm>
          <a:off x="0" y="0"/>
          <a:ext cx="0" cy="0"/>
          <a:chOff x="0" y="0"/>
          <a:chExt cx="0" cy="0"/>
        </a:xfrm>
      </p:grpSpPr>
      <p:sp>
        <p:nvSpPr>
          <p:cNvPr id="265" name="Google Shape;265;p38"/>
          <p:cNvSpPr/>
          <p:nvPr/>
        </p:nvSpPr>
        <p:spPr>
          <a:xfrm>
            <a:off x="-10614" y="-7961"/>
            <a:ext cx="9156000" cy="5171100"/>
          </a:xfrm>
          <a:prstGeom prst="rect">
            <a:avLst/>
          </a:prstGeom>
          <a:solidFill>
            <a:srgbClr val="FFFFFF"/>
          </a:solidFill>
          <a:ln>
            <a:noFill/>
          </a:ln>
        </p:spPr>
        <p:txBody>
          <a:bodyPr anchorCtr="0" anchor="ctr"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45720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Clr>
                <a:schemeClr val="dk1"/>
              </a:buClr>
              <a:buSzPts val="1100"/>
              <a:buFont typeface="Arial"/>
              <a:buNone/>
            </a:pPr>
            <a:r>
              <a:t/>
            </a:r>
            <a:endParaRPr sz="2000">
              <a:solidFill>
                <a:schemeClr val="dk1"/>
              </a:solidFill>
              <a:highlight>
                <a:schemeClr val="lt1"/>
              </a:highlight>
              <a:latin typeface="Oswald"/>
              <a:ea typeface="Oswald"/>
              <a:cs typeface="Oswald"/>
              <a:sym typeface="Oswald"/>
            </a:endParaRPr>
          </a:p>
          <a:p>
            <a:pPr indent="0" lvl="0" marL="0" rtl="0" algn="l">
              <a:lnSpc>
                <a:spcPct val="115000"/>
              </a:lnSpc>
              <a:spcBef>
                <a:spcPts val="1200"/>
              </a:spcBef>
              <a:spcAft>
                <a:spcPts val="0"/>
              </a:spcAft>
              <a:buClr>
                <a:schemeClr val="dk1"/>
              </a:buClr>
              <a:buSzPts val="1100"/>
              <a:buFont typeface="Arial"/>
              <a:buNone/>
            </a:pPr>
            <a:r>
              <a:rPr lang="pt-BR" sz="2000">
                <a:solidFill>
                  <a:schemeClr val="dk1"/>
                </a:solidFill>
                <a:highlight>
                  <a:schemeClr val="lt1"/>
                </a:highlight>
                <a:latin typeface="Oswald"/>
                <a:ea typeface="Oswald"/>
                <a:cs typeface="Oswald"/>
                <a:sym typeface="Oswald"/>
              </a:rPr>
              <a:t>Atual (2020-2024): “Até 2024, ser uma instituição moderna e eficiente, atuando com qualidade na prestação de serviços de bombeiro.”</a:t>
            </a:r>
            <a:endParaRPr sz="2000">
              <a:solidFill>
                <a:schemeClr val="dk1"/>
              </a:solidFill>
              <a:highlight>
                <a:schemeClr val="lt1"/>
              </a:highlight>
              <a:latin typeface="Oswald"/>
              <a:ea typeface="Oswald"/>
              <a:cs typeface="Oswald"/>
              <a:sym typeface="Oswald"/>
            </a:endParaRPr>
          </a:p>
          <a:p>
            <a:pPr indent="0" lvl="0" marL="0" rtl="0" algn="l">
              <a:lnSpc>
                <a:spcPct val="115000"/>
              </a:lnSpc>
              <a:spcBef>
                <a:spcPts val="1200"/>
              </a:spcBef>
              <a:spcAft>
                <a:spcPts val="0"/>
              </a:spcAft>
              <a:buClr>
                <a:schemeClr val="dk1"/>
              </a:buClr>
              <a:buSzPts val="1100"/>
              <a:buFont typeface="Arial"/>
              <a:buNone/>
            </a:pPr>
            <a:r>
              <a:rPr lang="pt-BR" sz="2000">
                <a:solidFill>
                  <a:schemeClr val="dk1"/>
                </a:solidFill>
                <a:highlight>
                  <a:schemeClr val="lt1"/>
                </a:highlight>
                <a:latin typeface="Oswald"/>
                <a:ea typeface="Oswald"/>
                <a:cs typeface="Oswald"/>
                <a:sym typeface="Oswald"/>
              </a:rPr>
              <a:t>Proposta: “</a:t>
            </a:r>
            <a:r>
              <a:rPr lang="pt-BR" sz="2000">
                <a:solidFill>
                  <a:schemeClr val="dk1"/>
                </a:solidFill>
                <a:latin typeface="Oswald"/>
                <a:ea typeface="Oswald"/>
                <a:cs typeface="Oswald"/>
                <a:sym typeface="Oswald"/>
              </a:rPr>
              <a:t>Até 2029, atuar com inovação e eficiência na prestação de serviços de bombeiro à população alagoana.”</a:t>
            </a:r>
            <a:endParaRPr sz="2000">
              <a:solidFill>
                <a:schemeClr val="dk1"/>
              </a:solidFill>
              <a:highlight>
                <a:schemeClr val="lt1"/>
              </a:highlight>
              <a:latin typeface="Oswald"/>
              <a:ea typeface="Oswald"/>
              <a:cs typeface="Oswald"/>
              <a:sym typeface="Oswald"/>
            </a:endParaRPr>
          </a:p>
          <a:p>
            <a:pPr indent="0" lvl="0" marL="0" rtl="0" algn="l">
              <a:lnSpc>
                <a:spcPct val="115000"/>
              </a:lnSpc>
              <a:spcBef>
                <a:spcPts val="1200"/>
              </a:spcBef>
              <a:spcAft>
                <a:spcPts val="0"/>
              </a:spcAft>
              <a:buClr>
                <a:schemeClr val="dk1"/>
              </a:buClr>
              <a:buSzPts val="1100"/>
              <a:buFont typeface="Arial"/>
              <a:buNone/>
            </a:pPr>
            <a:r>
              <a:rPr lang="pt-BR" sz="2000">
                <a:solidFill>
                  <a:schemeClr val="accent1"/>
                </a:solidFill>
                <a:highlight>
                  <a:schemeClr val="lt1"/>
                </a:highlight>
                <a:latin typeface="Oswald"/>
                <a:ea typeface="Oswald"/>
                <a:cs typeface="Oswald"/>
                <a:sym typeface="Oswald"/>
              </a:rPr>
              <a:t>Aprovado: “</a:t>
            </a:r>
            <a:r>
              <a:rPr lang="pt-BR" sz="2000">
                <a:solidFill>
                  <a:schemeClr val="accent1"/>
                </a:solidFill>
                <a:latin typeface="Oswald"/>
                <a:ea typeface="Oswald"/>
                <a:cs typeface="Oswald"/>
                <a:sym typeface="Oswald"/>
              </a:rPr>
              <a:t>Até 2029, atuar com inovação e eficiência na prestação de serviços de bombeiro à população alagoana.</a:t>
            </a:r>
            <a:r>
              <a:rPr lang="pt-BR" sz="2000">
                <a:solidFill>
                  <a:schemeClr val="accent1"/>
                </a:solidFill>
                <a:highlight>
                  <a:schemeClr val="lt1"/>
                </a:highlight>
                <a:latin typeface="Oswald"/>
                <a:ea typeface="Oswald"/>
                <a:cs typeface="Oswald"/>
                <a:sym typeface="Oswald"/>
              </a:rPr>
              <a:t>”</a:t>
            </a:r>
            <a:endParaRPr sz="2000">
              <a:solidFill>
                <a:schemeClr val="accent1"/>
              </a:solidFill>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266" name="Google Shape;266;p38"/>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267" name="Google Shape;267;p38"/>
          <p:cNvSpPr txBox="1"/>
          <p:nvPr/>
        </p:nvSpPr>
        <p:spPr>
          <a:xfrm>
            <a:off x="152400" y="319575"/>
            <a:ext cx="60084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REVISÃO: Proposta de Visão  </a:t>
            </a:r>
            <a:endParaRPr b="0" i="0" sz="1200" u="none" cap="none" strike="noStrike">
              <a:solidFill>
                <a:srgbClr val="000000"/>
              </a:solidFill>
              <a:latin typeface="Arial"/>
              <a:ea typeface="Arial"/>
              <a:cs typeface="Arial"/>
              <a:sym typeface="Arial"/>
            </a:endParaRPr>
          </a:p>
        </p:txBody>
      </p:sp>
      <p:sp>
        <p:nvSpPr>
          <p:cNvPr id="268" name="Google Shape;268;p38"/>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269" name="Google Shape;269;p38"/>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270" name="Google Shape;270;p38"/>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274" name="Shape 274"/>
        <p:cNvGrpSpPr/>
        <p:nvPr/>
      </p:nvGrpSpPr>
      <p:grpSpPr>
        <a:xfrm>
          <a:off x="0" y="0"/>
          <a:ext cx="0" cy="0"/>
          <a:chOff x="0" y="0"/>
          <a:chExt cx="0" cy="0"/>
        </a:xfrm>
      </p:grpSpPr>
      <p:sp>
        <p:nvSpPr>
          <p:cNvPr id="275" name="Google Shape;275;p39"/>
          <p:cNvSpPr/>
          <p:nvPr/>
        </p:nvSpPr>
        <p:spPr>
          <a:xfrm>
            <a:off x="-10614" y="-7961"/>
            <a:ext cx="9156000" cy="5171100"/>
          </a:xfrm>
          <a:prstGeom prst="rect">
            <a:avLst/>
          </a:prstGeom>
          <a:solidFill>
            <a:srgbClr val="FFFFFF"/>
          </a:solidFill>
          <a:ln>
            <a:noFill/>
          </a:ln>
        </p:spPr>
        <p:txBody>
          <a:bodyPr anchorCtr="0" anchor="t"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100000"/>
              </a:lnSpc>
              <a:spcBef>
                <a:spcPts val="1200"/>
              </a:spcBef>
              <a:spcAft>
                <a:spcPts val="0"/>
              </a:spcAft>
              <a:buNone/>
            </a:pPr>
            <a:r>
              <a:rPr lang="pt-BR" sz="2000">
                <a:solidFill>
                  <a:schemeClr val="dk1"/>
                </a:solidFill>
                <a:highlight>
                  <a:schemeClr val="lt1"/>
                </a:highlight>
                <a:latin typeface="Oswald"/>
                <a:ea typeface="Oswald"/>
                <a:cs typeface="Oswald"/>
                <a:sym typeface="Oswald"/>
              </a:rPr>
              <a:t>Atual (2020-2024): </a:t>
            </a:r>
            <a:endParaRPr sz="2000">
              <a:solidFill>
                <a:schemeClr val="dk1"/>
              </a:solidFill>
              <a:highlight>
                <a:schemeClr val="lt1"/>
              </a:highlight>
              <a:latin typeface="Oswald"/>
              <a:ea typeface="Oswald"/>
              <a:cs typeface="Oswald"/>
              <a:sym typeface="Oswald"/>
            </a:endParaRPr>
          </a:p>
          <a:p>
            <a:pPr indent="-355600" lvl="0" marL="457200" rtl="0" algn="l">
              <a:lnSpc>
                <a:spcPct val="100000"/>
              </a:lnSpc>
              <a:spcBef>
                <a:spcPts val="1200"/>
              </a:spcBef>
              <a:spcAft>
                <a:spcPts val="0"/>
              </a:spcAft>
              <a:buClr>
                <a:schemeClr val="dk1"/>
              </a:buClr>
              <a:buSzPts val="2000"/>
              <a:buFont typeface="Oswald"/>
              <a:buChar char="●"/>
            </a:pPr>
            <a:r>
              <a:rPr b="1" lang="pt-BR" sz="2000">
                <a:solidFill>
                  <a:schemeClr val="dk1"/>
                </a:solidFill>
                <a:highlight>
                  <a:schemeClr val="lt1"/>
                </a:highlight>
                <a:latin typeface="Oswald"/>
                <a:ea typeface="Oswald"/>
                <a:cs typeface="Oswald"/>
                <a:sym typeface="Oswald"/>
              </a:rPr>
              <a:t>Coragem</a:t>
            </a:r>
            <a:r>
              <a:rPr lang="pt-BR" sz="2000">
                <a:solidFill>
                  <a:schemeClr val="dk1"/>
                </a:solidFill>
                <a:highlight>
                  <a:schemeClr val="lt1"/>
                </a:highlight>
                <a:latin typeface="Oswald"/>
                <a:ea typeface="Oswald"/>
                <a:cs typeface="Oswald"/>
                <a:sym typeface="Oswald"/>
              </a:rPr>
              <a:t>: Enfrentamento das situações com valentia, destemor e firmeza de espírito.</a:t>
            </a:r>
            <a:endParaRPr sz="2000">
              <a:solidFill>
                <a:schemeClr val="dk1"/>
              </a:solidFill>
              <a:highlight>
                <a:schemeClr val="lt1"/>
              </a:highlight>
              <a:latin typeface="Oswald"/>
              <a:ea typeface="Oswald"/>
              <a:cs typeface="Oswald"/>
              <a:sym typeface="Oswald"/>
            </a:endParaRPr>
          </a:p>
          <a:p>
            <a:pPr indent="-355600" lvl="0" marL="457200" rtl="0" algn="l">
              <a:lnSpc>
                <a:spcPct val="100000"/>
              </a:lnSpc>
              <a:spcBef>
                <a:spcPts val="0"/>
              </a:spcBef>
              <a:spcAft>
                <a:spcPts val="0"/>
              </a:spcAft>
              <a:buClr>
                <a:schemeClr val="dk1"/>
              </a:buClr>
              <a:buSzPts val="2000"/>
              <a:buFont typeface="Oswald"/>
              <a:buChar char="●"/>
            </a:pPr>
            <a:r>
              <a:rPr b="1" lang="pt-BR" sz="2000">
                <a:solidFill>
                  <a:schemeClr val="dk1"/>
                </a:solidFill>
                <a:highlight>
                  <a:schemeClr val="lt1"/>
                </a:highlight>
                <a:latin typeface="Oswald"/>
                <a:ea typeface="Oswald"/>
                <a:cs typeface="Oswald"/>
                <a:sym typeface="Oswald"/>
              </a:rPr>
              <a:t>Disciplina</a:t>
            </a:r>
            <a:r>
              <a:rPr lang="pt-BR" sz="2000">
                <a:solidFill>
                  <a:schemeClr val="dk1"/>
                </a:solidFill>
                <a:highlight>
                  <a:schemeClr val="lt1"/>
                </a:highlight>
                <a:latin typeface="Oswald"/>
                <a:ea typeface="Oswald"/>
                <a:cs typeface="Oswald"/>
                <a:sym typeface="Oswald"/>
              </a:rPr>
              <a:t>: Observância e acatamento integral das leis, normas e regulamentos que fundamentam a organização, traduzindo-se pelo cumprimento do dever. </a:t>
            </a:r>
            <a:endParaRPr sz="2000">
              <a:solidFill>
                <a:schemeClr val="dk1"/>
              </a:solidFill>
              <a:highlight>
                <a:schemeClr val="lt1"/>
              </a:highlight>
              <a:latin typeface="Oswald"/>
              <a:ea typeface="Oswald"/>
              <a:cs typeface="Oswald"/>
              <a:sym typeface="Oswald"/>
            </a:endParaRPr>
          </a:p>
          <a:p>
            <a:pPr indent="-355600" lvl="0" marL="457200" rtl="0" algn="l">
              <a:lnSpc>
                <a:spcPct val="100000"/>
              </a:lnSpc>
              <a:spcBef>
                <a:spcPts val="0"/>
              </a:spcBef>
              <a:spcAft>
                <a:spcPts val="0"/>
              </a:spcAft>
              <a:buClr>
                <a:schemeClr val="dk1"/>
              </a:buClr>
              <a:buSzPts val="2000"/>
              <a:buFont typeface="Oswald"/>
              <a:buChar char="●"/>
            </a:pPr>
            <a:r>
              <a:rPr b="1" lang="pt-BR" sz="2000">
                <a:solidFill>
                  <a:schemeClr val="dk1"/>
                </a:solidFill>
                <a:highlight>
                  <a:schemeClr val="lt1"/>
                </a:highlight>
                <a:latin typeface="Oswald"/>
                <a:ea typeface="Oswald"/>
                <a:cs typeface="Oswald"/>
                <a:sym typeface="Oswald"/>
              </a:rPr>
              <a:t>Espírito de corpo</a:t>
            </a:r>
            <a:r>
              <a:rPr lang="pt-BR" sz="2000">
                <a:solidFill>
                  <a:schemeClr val="dk1"/>
                </a:solidFill>
                <a:highlight>
                  <a:schemeClr val="lt1"/>
                </a:highlight>
                <a:latin typeface="Oswald"/>
                <a:ea typeface="Oswald"/>
                <a:cs typeface="Oswald"/>
                <a:sym typeface="Oswald"/>
              </a:rPr>
              <a:t>: Integração entre as pessoas e equipes de trabalho, prezando pela harmonia, a tolerância e o respeito mútuo. </a:t>
            </a:r>
            <a:endParaRPr sz="2000">
              <a:solidFill>
                <a:schemeClr val="dk1"/>
              </a:solidFill>
              <a:highlight>
                <a:schemeClr val="lt1"/>
              </a:highlight>
              <a:latin typeface="Oswald"/>
              <a:ea typeface="Oswald"/>
              <a:cs typeface="Oswald"/>
              <a:sym typeface="Oswald"/>
            </a:endParaRPr>
          </a:p>
          <a:p>
            <a:pPr indent="-355600" lvl="0" marL="457200" rtl="0" algn="l">
              <a:lnSpc>
                <a:spcPct val="100000"/>
              </a:lnSpc>
              <a:spcBef>
                <a:spcPts val="0"/>
              </a:spcBef>
              <a:spcAft>
                <a:spcPts val="0"/>
              </a:spcAft>
              <a:buClr>
                <a:schemeClr val="dk1"/>
              </a:buClr>
              <a:buSzPts val="2000"/>
              <a:buFont typeface="Oswald"/>
              <a:buChar char="●"/>
            </a:pPr>
            <a:r>
              <a:rPr b="1" lang="pt-BR" sz="2000">
                <a:solidFill>
                  <a:schemeClr val="dk1"/>
                </a:solidFill>
                <a:highlight>
                  <a:schemeClr val="lt1"/>
                </a:highlight>
                <a:latin typeface="Oswald"/>
                <a:ea typeface="Oswald"/>
                <a:cs typeface="Oswald"/>
                <a:sym typeface="Oswald"/>
              </a:rPr>
              <a:t>Ética</a:t>
            </a:r>
            <a:r>
              <a:rPr lang="pt-BR" sz="2000">
                <a:solidFill>
                  <a:schemeClr val="dk1"/>
                </a:solidFill>
                <a:highlight>
                  <a:schemeClr val="lt1"/>
                </a:highlight>
                <a:latin typeface="Oswald"/>
                <a:ea typeface="Oswald"/>
                <a:cs typeface="Oswald"/>
                <a:sym typeface="Oswald"/>
              </a:rPr>
              <a:t>: Conjunto de valores e princípios que norteiam a conduta dos bombeiros militares no exercício da profissão. </a:t>
            </a:r>
            <a:endParaRPr sz="2000">
              <a:solidFill>
                <a:schemeClr val="dk1"/>
              </a:solidFill>
              <a:highlight>
                <a:schemeClr val="lt1"/>
              </a:highlight>
              <a:latin typeface="Oswald"/>
              <a:ea typeface="Oswald"/>
              <a:cs typeface="Oswald"/>
              <a:sym typeface="Oswald"/>
            </a:endParaRPr>
          </a:p>
          <a:p>
            <a:pPr indent="-355600" lvl="0" marL="457200" rtl="0" algn="l">
              <a:lnSpc>
                <a:spcPct val="100000"/>
              </a:lnSpc>
              <a:spcBef>
                <a:spcPts val="0"/>
              </a:spcBef>
              <a:spcAft>
                <a:spcPts val="0"/>
              </a:spcAft>
              <a:buClr>
                <a:schemeClr val="dk1"/>
              </a:buClr>
              <a:buSzPts val="2000"/>
              <a:buFont typeface="Oswald"/>
              <a:buChar char="●"/>
            </a:pPr>
            <a:r>
              <a:rPr b="1" lang="pt-BR" sz="2000">
                <a:solidFill>
                  <a:schemeClr val="dk1"/>
                </a:solidFill>
                <a:highlight>
                  <a:schemeClr val="lt1"/>
                </a:highlight>
                <a:latin typeface="Oswald"/>
                <a:ea typeface="Oswald"/>
                <a:cs typeface="Oswald"/>
                <a:sym typeface="Oswald"/>
              </a:rPr>
              <a:t>Hierarquia</a:t>
            </a:r>
            <a:r>
              <a:rPr lang="pt-BR" sz="2000">
                <a:solidFill>
                  <a:schemeClr val="dk1"/>
                </a:solidFill>
                <a:highlight>
                  <a:schemeClr val="lt1"/>
                </a:highlight>
                <a:latin typeface="Oswald"/>
                <a:ea typeface="Oswald"/>
                <a:cs typeface="Oswald"/>
                <a:sym typeface="Oswald"/>
              </a:rPr>
              <a:t>: Prerrogativa que se refere aos níveis de autoridade dentro da estrutura da organização, manifestando-se pela presteza e o cumprimento de ordens.</a:t>
            </a:r>
            <a:endParaRPr sz="2000">
              <a:solidFill>
                <a:schemeClr val="dk1"/>
              </a:solidFill>
              <a:highlight>
                <a:schemeClr val="lt1"/>
              </a:highlight>
              <a:latin typeface="Oswald"/>
              <a:ea typeface="Oswald"/>
              <a:cs typeface="Oswald"/>
              <a:sym typeface="Oswald"/>
            </a:endParaRPr>
          </a:p>
          <a:p>
            <a:pPr indent="0" lvl="0" marL="0" rtl="0" algn="l">
              <a:lnSpc>
                <a:spcPct val="200000"/>
              </a:lnSpc>
              <a:spcBef>
                <a:spcPts val="1200"/>
              </a:spcBef>
              <a:spcAft>
                <a:spcPts val="0"/>
              </a:spcAft>
              <a:buClr>
                <a:schemeClr val="dk1"/>
              </a:buClr>
              <a:buSzPts val="1100"/>
              <a:buFont typeface="Arial"/>
              <a:buNone/>
            </a:pPr>
            <a:r>
              <a:rPr lang="pt-BR" sz="2000">
                <a:solidFill>
                  <a:schemeClr val="dk1"/>
                </a:solidFill>
                <a:highlight>
                  <a:schemeClr val="lt1"/>
                </a:highlight>
                <a:latin typeface="Oswald"/>
                <a:ea typeface="Oswald"/>
                <a:cs typeface="Oswald"/>
                <a:sym typeface="Oswald"/>
              </a:rPr>
              <a:t>”</a:t>
            </a:r>
            <a:endParaRPr sz="2000">
              <a:solidFill>
                <a:schemeClr val="dk1"/>
              </a:solidFill>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276" name="Google Shape;276;p39"/>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277" name="Google Shape;277;p39"/>
          <p:cNvSpPr txBox="1"/>
          <p:nvPr/>
        </p:nvSpPr>
        <p:spPr>
          <a:xfrm>
            <a:off x="152400" y="319575"/>
            <a:ext cx="60084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REVISÃO: Proposta de Valores  </a:t>
            </a:r>
            <a:endParaRPr b="0" i="0" sz="1200" u="none" cap="none" strike="noStrike">
              <a:solidFill>
                <a:srgbClr val="000000"/>
              </a:solidFill>
              <a:latin typeface="Arial"/>
              <a:ea typeface="Arial"/>
              <a:cs typeface="Arial"/>
              <a:sym typeface="Arial"/>
            </a:endParaRPr>
          </a:p>
        </p:txBody>
      </p:sp>
      <p:sp>
        <p:nvSpPr>
          <p:cNvPr id="278" name="Google Shape;278;p39"/>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279" name="Google Shape;279;p39"/>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280" name="Google Shape;280;p39"/>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284" name="Shape 284"/>
        <p:cNvGrpSpPr/>
        <p:nvPr/>
      </p:nvGrpSpPr>
      <p:grpSpPr>
        <a:xfrm>
          <a:off x="0" y="0"/>
          <a:ext cx="0" cy="0"/>
          <a:chOff x="0" y="0"/>
          <a:chExt cx="0" cy="0"/>
        </a:xfrm>
      </p:grpSpPr>
      <p:sp>
        <p:nvSpPr>
          <p:cNvPr id="285" name="Google Shape;285;p40"/>
          <p:cNvSpPr/>
          <p:nvPr/>
        </p:nvSpPr>
        <p:spPr>
          <a:xfrm>
            <a:off x="-10614" y="-7961"/>
            <a:ext cx="9156000" cy="5171100"/>
          </a:xfrm>
          <a:prstGeom prst="rect">
            <a:avLst/>
          </a:prstGeom>
          <a:solidFill>
            <a:srgbClr val="FFFFFF"/>
          </a:solidFill>
          <a:ln>
            <a:noFill/>
          </a:ln>
        </p:spPr>
        <p:txBody>
          <a:bodyPr anchorCtr="0" anchor="t"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100000"/>
              </a:lnSpc>
              <a:spcBef>
                <a:spcPts val="1200"/>
              </a:spcBef>
              <a:spcAft>
                <a:spcPts val="0"/>
              </a:spcAft>
              <a:buNone/>
            </a:pPr>
            <a:r>
              <a:rPr lang="pt-BR" sz="2000">
                <a:solidFill>
                  <a:schemeClr val="dk1"/>
                </a:solidFill>
                <a:highlight>
                  <a:schemeClr val="lt1"/>
                </a:highlight>
                <a:latin typeface="Oswald"/>
                <a:ea typeface="Oswald"/>
                <a:cs typeface="Oswald"/>
                <a:sym typeface="Oswald"/>
              </a:rPr>
              <a:t>Atual (2020-2024): </a:t>
            </a:r>
            <a:endParaRPr sz="2000">
              <a:solidFill>
                <a:schemeClr val="dk1"/>
              </a:solidFill>
              <a:highlight>
                <a:schemeClr val="lt1"/>
              </a:highlight>
              <a:latin typeface="Oswald"/>
              <a:ea typeface="Oswald"/>
              <a:cs typeface="Oswald"/>
              <a:sym typeface="Oswald"/>
            </a:endParaRPr>
          </a:p>
          <a:p>
            <a:pPr indent="-355600" lvl="0" marL="457200" rtl="0" algn="l">
              <a:lnSpc>
                <a:spcPct val="100000"/>
              </a:lnSpc>
              <a:spcBef>
                <a:spcPts val="1200"/>
              </a:spcBef>
              <a:spcAft>
                <a:spcPts val="0"/>
              </a:spcAft>
              <a:buClr>
                <a:schemeClr val="dk1"/>
              </a:buClr>
              <a:buSzPts val="2000"/>
              <a:buFont typeface="Oswald"/>
              <a:buChar char="●"/>
            </a:pPr>
            <a:r>
              <a:rPr b="1" lang="pt-BR" sz="2000">
                <a:solidFill>
                  <a:schemeClr val="dk1"/>
                </a:solidFill>
                <a:highlight>
                  <a:schemeClr val="lt1"/>
                </a:highlight>
                <a:latin typeface="Oswald"/>
                <a:ea typeface="Oswald"/>
                <a:cs typeface="Oswald"/>
                <a:sym typeface="Oswald"/>
              </a:rPr>
              <a:t>Profissionalismo</a:t>
            </a:r>
            <a:r>
              <a:rPr lang="pt-BR" sz="2000">
                <a:solidFill>
                  <a:schemeClr val="dk1"/>
                </a:solidFill>
                <a:highlight>
                  <a:schemeClr val="lt1"/>
                </a:highlight>
                <a:latin typeface="Oswald"/>
                <a:ea typeface="Oswald"/>
                <a:cs typeface="Oswald"/>
                <a:sym typeface="Oswald"/>
              </a:rPr>
              <a:t>: É o exercício do trabalho de maneira técnica, responsável e competente.</a:t>
            </a:r>
            <a:endParaRPr sz="2000">
              <a:solidFill>
                <a:schemeClr val="dk1"/>
              </a:solidFill>
              <a:highlight>
                <a:schemeClr val="lt1"/>
              </a:highlight>
              <a:latin typeface="Oswald"/>
              <a:ea typeface="Oswald"/>
              <a:cs typeface="Oswald"/>
              <a:sym typeface="Oswald"/>
            </a:endParaRPr>
          </a:p>
          <a:p>
            <a:pPr indent="-355600" lvl="0" marL="457200" rtl="0" algn="l">
              <a:lnSpc>
                <a:spcPct val="100000"/>
              </a:lnSpc>
              <a:spcBef>
                <a:spcPts val="0"/>
              </a:spcBef>
              <a:spcAft>
                <a:spcPts val="0"/>
              </a:spcAft>
              <a:buClr>
                <a:schemeClr val="dk1"/>
              </a:buClr>
              <a:buSzPts val="2000"/>
              <a:buFont typeface="Oswald"/>
              <a:buChar char="●"/>
            </a:pPr>
            <a:r>
              <a:rPr b="1" lang="pt-BR" sz="2000">
                <a:solidFill>
                  <a:schemeClr val="dk1"/>
                </a:solidFill>
                <a:highlight>
                  <a:schemeClr val="lt1"/>
                </a:highlight>
                <a:latin typeface="Oswald"/>
                <a:ea typeface="Oswald"/>
                <a:cs typeface="Oswald"/>
                <a:sym typeface="Oswald"/>
              </a:rPr>
              <a:t>Prontidão</a:t>
            </a:r>
            <a:r>
              <a:rPr lang="pt-BR" sz="2000">
                <a:solidFill>
                  <a:schemeClr val="dk1"/>
                </a:solidFill>
                <a:highlight>
                  <a:schemeClr val="lt1"/>
                </a:highlight>
                <a:latin typeface="Oswald"/>
                <a:ea typeface="Oswald"/>
                <a:cs typeface="Oswald"/>
                <a:sym typeface="Oswald"/>
              </a:rPr>
              <a:t>: Disponibilidade permanente da corporação à sociedade para o exercício da missão.</a:t>
            </a:r>
            <a:endParaRPr sz="2000">
              <a:solidFill>
                <a:schemeClr val="dk1"/>
              </a:solidFill>
              <a:highlight>
                <a:schemeClr val="lt1"/>
              </a:highlight>
              <a:latin typeface="Oswald"/>
              <a:ea typeface="Oswald"/>
              <a:cs typeface="Oswald"/>
              <a:sym typeface="Oswald"/>
            </a:endParaRPr>
          </a:p>
          <a:p>
            <a:pPr indent="-355600" lvl="0" marL="457200" rtl="0" algn="l">
              <a:lnSpc>
                <a:spcPct val="100000"/>
              </a:lnSpc>
              <a:spcBef>
                <a:spcPts val="0"/>
              </a:spcBef>
              <a:spcAft>
                <a:spcPts val="0"/>
              </a:spcAft>
              <a:buClr>
                <a:schemeClr val="dk1"/>
              </a:buClr>
              <a:buSzPts val="2000"/>
              <a:buFont typeface="Oswald"/>
              <a:buChar char="●"/>
            </a:pPr>
            <a:r>
              <a:rPr b="1" lang="pt-BR" sz="2000">
                <a:solidFill>
                  <a:schemeClr val="dk1"/>
                </a:solidFill>
                <a:highlight>
                  <a:schemeClr val="lt1"/>
                </a:highlight>
                <a:latin typeface="Oswald"/>
                <a:ea typeface="Oswald"/>
                <a:cs typeface="Oswald"/>
                <a:sym typeface="Oswald"/>
              </a:rPr>
              <a:t>Respeito à vida</a:t>
            </a:r>
            <a:r>
              <a:rPr lang="pt-BR" sz="2000">
                <a:solidFill>
                  <a:schemeClr val="dk1"/>
                </a:solidFill>
                <a:highlight>
                  <a:schemeClr val="lt1"/>
                </a:highlight>
                <a:latin typeface="Oswald"/>
                <a:ea typeface="Oswald"/>
                <a:cs typeface="Oswald"/>
                <a:sym typeface="Oswald"/>
              </a:rPr>
              <a:t>: Consciência de que a vida é o bem mais importante, sendo o alvo primário da missão institucional. </a:t>
            </a:r>
            <a:endParaRPr sz="2000">
              <a:solidFill>
                <a:schemeClr val="dk1"/>
              </a:solidFill>
              <a:highlight>
                <a:schemeClr val="lt1"/>
              </a:highlight>
              <a:latin typeface="Oswald"/>
              <a:ea typeface="Oswald"/>
              <a:cs typeface="Oswald"/>
              <a:sym typeface="Oswald"/>
            </a:endParaRPr>
          </a:p>
          <a:p>
            <a:pPr indent="-355600" lvl="0" marL="457200" rtl="0" algn="l">
              <a:lnSpc>
                <a:spcPct val="100000"/>
              </a:lnSpc>
              <a:spcBef>
                <a:spcPts val="0"/>
              </a:spcBef>
              <a:spcAft>
                <a:spcPts val="0"/>
              </a:spcAft>
              <a:buClr>
                <a:schemeClr val="dk1"/>
              </a:buClr>
              <a:buSzPts val="2000"/>
              <a:buFont typeface="Oswald"/>
              <a:buChar char="●"/>
            </a:pPr>
            <a:r>
              <a:rPr b="1" lang="pt-BR" sz="2000">
                <a:solidFill>
                  <a:schemeClr val="dk1"/>
                </a:solidFill>
                <a:highlight>
                  <a:schemeClr val="lt1"/>
                </a:highlight>
                <a:latin typeface="Oswald"/>
                <a:ea typeface="Oswald"/>
                <a:cs typeface="Oswald"/>
                <a:sym typeface="Oswald"/>
              </a:rPr>
              <a:t>Responsabilidade socioambiental</a:t>
            </a:r>
            <a:r>
              <a:rPr lang="pt-BR" sz="2000">
                <a:solidFill>
                  <a:schemeClr val="dk1"/>
                </a:solidFill>
                <a:highlight>
                  <a:schemeClr val="lt1"/>
                </a:highlight>
                <a:latin typeface="Oswald"/>
                <a:ea typeface="Oswald"/>
                <a:cs typeface="Oswald"/>
                <a:sym typeface="Oswald"/>
              </a:rPr>
              <a:t>: Compromisso com o desenvolvimento sustentável, em benefício da sociedade, da corporação e do meio ambiente.</a:t>
            </a:r>
            <a:endParaRPr sz="2000">
              <a:solidFill>
                <a:schemeClr val="dk1"/>
              </a:solidFill>
              <a:highlight>
                <a:schemeClr val="lt1"/>
              </a:highlight>
              <a:latin typeface="Oswald"/>
              <a:ea typeface="Oswald"/>
              <a:cs typeface="Oswald"/>
              <a:sym typeface="Oswald"/>
            </a:endParaRPr>
          </a:p>
          <a:p>
            <a:pPr indent="-355600" lvl="0" marL="457200" rtl="0" algn="l">
              <a:lnSpc>
                <a:spcPct val="100000"/>
              </a:lnSpc>
              <a:spcBef>
                <a:spcPts val="0"/>
              </a:spcBef>
              <a:spcAft>
                <a:spcPts val="0"/>
              </a:spcAft>
              <a:buClr>
                <a:schemeClr val="dk1"/>
              </a:buClr>
              <a:buSzPts val="2000"/>
              <a:buFont typeface="Oswald"/>
              <a:buChar char="●"/>
            </a:pPr>
            <a:r>
              <a:rPr b="1" lang="pt-BR" sz="2000">
                <a:solidFill>
                  <a:schemeClr val="dk1"/>
                </a:solidFill>
                <a:highlight>
                  <a:schemeClr val="lt1"/>
                </a:highlight>
                <a:latin typeface="Oswald"/>
                <a:ea typeface="Oswald"/>
                <a:cs typeface="Oswald"/>
                <a:sym typeface="Oswald"/>
              </a:rPr>
              <a:t>Tradição</a:t>
            </a:r>
            <a:r>
              <a:rPr lang="pt-BR" sz="2000">
                <a:solidFill>
                  <a:schemeClr val="dk1"/>
                </a:solidFill>
                <a:highlight>
                  <a:schemeClr val="lt1"/>
                </a:highlight>
                <a:latin typeface="Oswald"/>
                <a:ea typeface="Oswald"/>
                <a:cs typeface="Oswald"/>
                <a:sym typeface="Oswald"/>
              </a:rPr>
              <a:t>: Conservação e respeito às boas práticas, valores, doutrinas e costumes da corporação, difundidos ao longo das gerações.</a:t>
            </a:r>
            <a:endParaRPr sz="2000">
              <a:solidFill>
                <a:schemeClr val="dk1"/>
              </a:solidFill>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t/>
            </a:r>
            <a:endParaRPr sz="2000">
              <a:solidFill>
                <a:schemeClr val="dk1"/>
              </a:solidFill>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286" name="Google Shape;286;p40"/>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287" name="Google Shape;287;p40"/>
          <p:cNvSpPr txBox="1"/>
          <p:nvPr/>
        </p:nvSpPr>
        <p:spPr>
          <a:xfrm>
            <a:off x="152400" y="319575"/>
            <a:ext cx="60084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REVISÃO: Proposta de Valores  </a:t>
            </a:r>
            <a:endParaRPr b="0" i="0" sz="1200" u="none" cap="none" strike="noStrike">
              <a:solidFill>
                <a:srgbClr val="000000"/>
              </a:solidFill>
              <a:latin typeface="Arial"/>
              <a:ea typeface="Arial"/>
              <a:cs typeface="Arial"/>
              <a:sym typeface="Arial"/>
            </a:endParaRPr>
          </a:p>
        </p:txBody>
      </p:sp>
      <p:sp>
        <p:nvSpPr>
          <p:cNvPr id="288" name="Google Shape;288;p40"/>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289" name="Google Shape;289;p40"/>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290" name="Google Shape;290;p40"/>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294" name="Shape 294"/>
        <p:cNvGrpSpPr/>
        <p:nvPr/>
      </p:nvGrpSpPr>
      <p:grpSpPr>
        <a:xfrm>
          <a:off x="0" y="0"/>
          <a:ext cx="0" cy="0"/>
          <a:chOff x="0" y="0"/>
          <a:chExt cx="0" cy="0"/>
        </a:xfrm>
      </p:grpSpPr>
      <p:sp>
        <p:nvSpPr>
          <p:cNvPr id="295" name="Google Shape;295;p41"/>
          <p:cNvSpPr/>
          <p:nvPr/>
        </p:nvSpPr>
        <p:spPr>
          <a:xfrm>
            <a:off x="-10614" y="-7961"/>
            <a:ext cx="9156000" cy="5171100"/>
          </a:xfrm>
          <a:prstGeom prst="rect">
            <a:avLst/>
          </a:prstGeom>
          <a:solidFill>
            <a:srgbClr val="FFFFFF"/>
          </a:solidFill>
          <a:ln>
            <a:noFill/>
          </a:ln>
        </p:spPr>
        <p:txBody>
          <a:bodyPr anchorCtr="0" anchor="t"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100000"/>
              </a:lnSpc>
              <a:spcBef>
                <a:spcPts val="1200"/>
              </a:spcBef>
              <a:spcAft>
                <a:spcPts val="0"/>
              </a:spcAft>
              <a:buNone/>
            </a:pPr>
            <a:r>
              <a:rPr lang="pt-BR" sz="2000">
                <a:solidFill>
                  <a:schemeClr val="dk1"/>
                </a:solidFill>
                <a:highlight>
                  <a:schemeClr val="lt1"/>
                </a:highlight>
                <a:latin typeface="Oswald"/>
                <a:ea typeface="Oswald"/>
                <a:cs typeface="Oswald"/>
                <a:sym typeface="Oswald"/>
              </a:rPr>
              <a:t>Proposta</a:t>
            </a:r>
            <a:r>
              <a:rPr lang="pt-BR" sz="2000">
                <a:solidFill>
                  <a:schemeClr val="dk1"/>
                </a:solidFill>
                <a:highlight>
                  <a:schemeClr val="lt1"/>
                </a:highlight>
                <a:latin typeface="Oswald"/>
                <a:ea typeface="Oswald"/>
                <a:cs typeface="Oswald"/>
                <a:sym typeface="Oswald"/>
              </a:rPr>
              <a:t>: </a:t>
            </a:r>
            <a:endParaRPr sz="2000">
              <a:solidFill>
                <a:schemeClr val="dk1"/>
              </a:solidFill>
              <a:highlight>
                <a:schemeClr val="lt1"/>
              </a:highlight>
              <a:latin typeface="Oswald"/>
              <a:ea typeface="Oswald"/>
              <a:cs typeface="Oswald"/>
              <a:sym typeface="Oswald"/>
            </a:endParaRPr>
          </a:p>
          <a:p>
            <a:pPr indent="-355600" lvl="0" marL="457200" rtl="0" algn="just">
              <a:lnSpc>
                <a:spcPct val="115000"/>
              </a:lnSpc>
              <a:spcBef>
                <a:spcPts val="1200"/>
              </a:spcBef>
              <a:spcAft>
                <a:spcPts val="0"/>
              </a:spcAft>
              <a:buClr>
                <a:schemeClr val="dk1"/>
              </a:buClr>
              <a:buSzPts val="2000"/>
              <a:buFont typeface="Oswald"/>
              <a:buChar char="●"/>
            </a:pPr>
            <a:r>
              <a:rPr b="1" lang="pt-BR" sz="2000">
                <a:solidFill>
                  <a:schemeClr val="dk1"/>
                </a:solidFill>
                <a:latin typeface="Oswald"/>
                <a:ea typeface="Oswald"/>
                <a:cs typeface="Oswald"/>
                <a:sym typeface="Oswald"/>
              </a:rPr>
              <a:t>Comprometimento: </a:t>
            </a:r>
            <a:r>
              <a:rPr lang="pt-BR" sz="2000">
                <a:solidFill>
                  <a:schemeClr val="dk1"/>
                </a:solidFill>
                <a:latin typeface="Oswald"/>
                <a:ea typeface="Oswald"/>
                <a:cs typeface="Oswald"/>
                <a:sym typeface="Oswald"/>
              </a:rPr>
              <a:t>Condição que vai além da responsabilidade assumida, contemplando envolvimento e motivação para cumprir o compromisso da melhor forma possível. (Novo)</a:t>
            </a:r>
            <a:endParaRPr sz="2000">
              <a:solidFill>
                <a:schemeClr val="dk1"/>
              </a:solidFill>
              <a:latin typeface="Oswald"/>
              <a:ea typeface="Oswald"/>
              <a:cs typeface="Oswald"/>
              <a:sym typeface="Oswald"/>
            </a:endParaRPr>
          </a:p>
          <a:p>
            <a:pPr indent="-355600" lvl="0" marL="457200" rtl="0" algn="l">
              <a:lnSpc>
                <a:spcPct val="100000"/>
              </a:lnSpc>
              <a:spcBef>
                <a:spcPts val="0"/>
              </a:spcBef>
              <a:spcAft>
                <a:spcPts val="0"/>
              </a:spcAft>
              <a:buClr>
                <a:schemeClr val="dk1"/>
              </a:buClr>
              <a:buSzPts val="2000"/>
              <a:buFont typeface="Oswald"/>
              <a:buChar char="●"/>
            </a:pPr>
            <a:r>
              <a:rPr b="1" lang="pt-BR" sz="2000">
                <a:solidFill>
                  <a:schemeClr val="dk1"/>
                </a:solidFill>
                <a:latin typeface="Oswald"/>
                <a:ea typeface="Oswald"/>
                <a:cs typeface="Oswald"/>
                <a:sym typeface="Oswald"/>
              </a:rPr>
              <a:t>Coragem:</a:t>
            </a:r>
            <a:r>
              <a:rPr lang="pt-BR" sz="2000">
                <a:solidFill>
                  <a:schemeClr val="dk1"/>
                </a:solidFill>
                <a:latin typeface="Oswald"/>
                <a:ea typeface="Oswald"/>
                <a:cs typeface="Oswald"/>
                <a:sym typeface="Oswald"/>
              </a:rPr>
              <a:t> Enfrentamento das situações com valentia, destemor e firmeza de espírito. (Atual)</a:t>
            </a:r>
            <a:endParaRPr sz="2000">
              <a:solidFill>
                <a:schemeClr val="dk1"/>
              </a:solidFill>
              <a:latin typeface="Oswald"/>
              <a:ea typeface="Oswald"/>
              <a:cs typeface="Oswald"/>
              <a:sym typeface="Oswald"/>
            </a:endParaRPr>
          </a:p>
          <a:p>
            <a:pPr indent="-355600" lvl="0" marL="457200" rtl="0" algn="just">
              <a:lnSpc>
                <a:spcPct val="115000"/>
              </a:lnSpc>
              <a:spcBef>
                <a:spcPts val="0"/>
              </a:spcBef>
              <a:spcAft>
                <a:spcPts val="0"/>
              </a:spcAft>
              <a:buClr>
                <a:schemeClr val="dk1"/>
              </a:buClr>
              <a:buSzPts val="2000"/>
              <a:buFont typeface="Oswald"/>
              <a:buChar char="●"/>
            </a:pPr>
            <a:r>
              <a:rPr b="1" lang="pt-BR" sz="2000">
                <a:solidFill>
                  <a:schemeClr val="dk1"/>
                </a:solidFill>
                <a:latin typeface="Oswald"/>
                <a:ea typeface="Oswald"/>
                <a:cs typeface="Oswald"/>
                <a:sym typeface="Oswald"/>
              </a:rPr>
              <a:t>Disciplina:</a:t>
            </a:r>
            <a:r>
              <a:rPr lang="pt-BR" sz="2000">
                <a:solidFill>
                  <a:schemeClr val="dk1"/>
                </a:solidFill>
                <a:latin typeface="Oswald"/>
                <a:ea typeface="Oswald"/>
                <a:cs typeface="Oswald"/>
                <a:sym typeface="Oswald"/>
              </a:rPr>
              <a:t> Observância e acatamento integral das leis, regulamentos, normas e disposições que fundamentam a organização, traduzindo-se pelo cumprimento do dever. </a:t>
            </a:r>
            <a:r>
              <a:rPr lang="pt-BR" sz="2000">
                <a:solidFill>
                  <a:schemeClr val="dk1"/>
                </a:solidFill>
                <a:latin typeface="Oswald"/>
                <a:ea typeface="Oswald"/>
                <a:cs typeface="Oswald"/>
                <a:sym typeface="Oswald"/>
              </a:rPr>
              <a:t>(Atual)</a:t>
            </a:r>
            <a:endParaRPr sz="2000">
              <a:solidFill>
                <a:schemeClr val="dk1"/>
              </a:solidFill>
              <a:latin typeface="Oswald"/>
              <a:ea typeface="Oswald"/>
              <a:cs typeface="Oswald"/>
              <a:sym typeface="Oswald"/>
            </a:endParaRPr>
          </a:p>
          <a:p>
            <a:pPr indent="-355600" lvl="0" marL="457200" rtl="0" algn="just">
              <a:lnSpc>
                <a:spcPct val="115000"/>
              </a:lnSpc>
              <a:spcBef>
                <a:spcPts val="0"/>
              </a:spcBef>
              <a:spcAft>
                <a:spcPts val="0"/>
              </a:spcAft>
              <a:buClr>
                <a:schemeClr val="dk1"/>
              </a:buClr>
              <a:buSzPts val="2000"/>
              <a:buFont typeface="Oswald"/>
              <a:buChar char="●"/>
            </a:pPr>
            <a:r>
              <a:rPr b="1" lang="pt-BR" sz="2000">
                <a:solidFill>
                  <a:schemeClr val="dk1"/>
                </a:solidFill>
                <a:latin typeface="Oswald"/>
                <a:ea typeface="Oswald"/>
                <a:cs typeface="Oswald"/>
                <a:sym typeface="Oswald"/>
              </a:rPr>
              <a:t>Ética:</a:t>
            </a:r>
            <a:r>
              <a:rPr lang="pt-BR" sz="2000">
                <a:solidFill>
                  <a:schemeClr val="dk1"/>
                </a:solidFill>
                <a:latin typeface="Oswald"/>
                <a:ea typeface="Oswald"/>
                <a:cs typeface="Oswald"/>
                <a:sym typeface="Oswald"/>
              </a:rPr>
              <a:t> Conjunto de valores e princípios que norteiam a conduta dos bombeiros militares no exercício da profissão.  (Atual)</a:t>
            </a:r>
            <a:endParaRPr sz="2000">
              <a:solidFill>
                <a:schemeClr val="dk1"/>
              </a:solidFill>
              <a:latin typeface="Oswald"/>
              <a:ea typeface="Oswald"/>
              <a:cs typeface="Oswald"/>
              <a:sym typeface="Oswald"/>
            </a:endParaRPr>
          </a:p>
          <a:p>
            <a:pPr indent="0" lvl="0" marL="457200" rtl="0" algn="just">
              <a:lnSpc>
                <a:spcPct val="115000"/>
              </a:lnSpc>
              <a:spcBef>
                <a:spcPts val="1200"/>
              </a:spcBef>
              <a:spcAft>
                <a:spcPts val="0"/>
              </a:spcAft>
              <a:buNone/>
            </a:pPr>
            <a:r>
              <a:t/>
            </a:r>
            <a:endParaRPr sz="2000">
              <a:solidFill>
                <a:schemeClr val="dk1"/>
              </a:solidFill>
              <a:latin typeface="Oswald"/>
              <a:ea typeface="Oswald"/>
              <a:cs typeface="Oswald"/>
              <a:sym typeface="Oswald"/>
            </a:endParaRPr>
          </a:p>
          <a:p>
            <a:pPr indent="0" lvl="0" marL="0" rtl="0" algn="l">
              <a:lnSpc>
                <a:spcPct val="200000"/>
              </a:lnSpc>
              <a:spcBef>
                <a:spcPts val="1200"/>
              </a:spcBef>
              <a:spcAft>
                <a:spcPts val="0"/>
              </a:spcAft>
              <a:buNone/>
            </a:pPr>
            <a:r>
              <a:t/>
            </a:r>
            <a:endParaRPr sz="2000">
              <a:solidFill>
                <a:schemeClr val="dk1"/>
              </a:solidFill>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296" name="Google Shape;296;p41"/>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297" name="Google Shape;297;p41"/>
          <p:cNvSpPr txBox="1"/>
          <p:nvPr/>
        </p:nvSpPr>
        <p:spPr>
          <a:xfrm>
            <a:off x="152400" y="319575"/>
            <a:ext cx="60084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REVISÃO: Proposta de Valores  </a:t>
            </a:r>
            <a:endParaRPr b="0" i="0" sz="1200" u="none" cap="none" strike="noStrike">
              <a:solidFill>
                <a:srgbClr val="000000"/>
              </a:solidFill>
              <a:latin typeface="Arial"/>
              <a:ea typeface="Arial"/>
              <a:cs typeface="Arial"/>
              <a:sym typeface="Arial"/>
            </a:endParaRPr>
          </a:p>
        </p:txBody>
      </p:sp>
      <p:sp>
        <p:nvSpPr>
          <p:cNvPr id="298" name="Google Shape;298;p41"/>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299" name="Google Shape;299;p41"/>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300" name="Google Shape;300;p41"/>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304" name="Shape 304"/>
        <p:cNvGrpSpPr/>
        <p:nvPr/>
      </p:nvGrpSpPr>
      <p:grpSpPr>
        <a:xfrm>
          <a:off x="0" y="0"/>
          <a:ext cx="0" cy="0"/>
          <a:chOff x="0" y="0"/>
          <a:chExt cx="0" cy="0"/>
        </a:xfrm>
      </p:grpSpPr>
      <p:sp>
        <p:nvSpPr>
          <p:cNvPr id="305" name="Google Shape;305;p42"/>
          <p:cNvSpPr/>
          <p:nvPr/>
        </p:nvSpPr>
        <p:spPr>
          <a:xfrm>
            <a:off x="-10614" y="-7961"/>
            <a:ext cx="9156000" cy="5171100"/>
          </a:xfrm>
          <a:prstGeom prst="rect">
            <a:avLst/>
          </a:prstGeom>
          <a:solidFill>
            <a:srgbClr val="FFFFFF"/>
          </a:solidFill>
          <a:ln>
            <a:noFill/>
          </a:ln>
        </p:spPr>
        <p:txBody>
          <a:bodyPr anchorCtr="0" anchor="t"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100000"/>
              </a:lnSpc>
              <a:spcBef>
                <a:spcPts val="1200"/>
              </a:spcBef>
              <a:spcAft>
                <a:spcPts val="0"/>
              </a:spcAft>
              <a:buNone/>
            </a:pPr>
            <a:r>
              <a:rPr lang="pt-BR" sz="2000">
                <a:solidFill>
                  <a:schemeClr val="dk1"/>
                </a:solidFill>
                <a:highlight>
                  <a:schemeClr val="lt1"/>
                </a:highlight>
                <a:latin typeface="Oswald"/>
                <a:ea typeface="Oswald"/>
                <a:cs typeface="Oswald"/>
                <a:sym typeface="Oswald"/>
              </a:rPr>
              <a:t>Proposta: </a:t>
            </a:r>
            <a:endParaRPr sz="2000">
              <a:solidFill>
                <a:schemeClr val="dk1"/>
              </a:solidFill>
              <a:highlight>
                <a:schemeClr val="lt1"/>
              </a:highlight>
              <a:latin typeface="Oswald"/>
              <a:ea typeface="Oswald"/>
              <a:cs typeface="Oswald"/>
              <a:sym typeface="Oswald"/>
            </a:endParaRPr>
          </a:p>
          <a:p>
            <a:pPr indent="-355600" lvl="0" marL="457200" rtl="0" algn="just">
              <a:lnSpc>
                <a:spcPct val="115000"/>
              </a:lnSpc>
              <a:spcBef>
                <a:spcPts val="1200"/>
              </a:spcBef>
              <a:spcAft>
                <a:spcPts val="0"/>
              </a:spcAft>
              <a:buClr>
                <a:schemeClr val="dk1"/>
              </a:buClr>
              <a:buSzPts val="2000"/>
              <a:buFont typeface="Oswald"/>
              <a:buChar char="●"/>
            </a:pPr>
            <a:r>
              <a:rPr b="1" lang="pt-BR" sz="2000">
                <a:solidFill>
                  <a:schemeClr val="dk1"/>
                </a:solidFill>
                <a:latin typeface="Oswald"/>
                <a:ea typeface="Oswald"/>
                <a:cs typeface="Oswald"/>
                <a:sym typeface="Oswald"/>
              </a:rPr>
              <a:t>Hierarquia:</a:t>
            </a:r>
            <a:r>
              <a:rPr lang="pt-BR" sz="2000">
                <a:solidFill>
                  <a:schemeClr val="dk1"/>
                </a:solidFill>
                <a:latin typeface="Oswald"/>
                <a:ea typeface="Oswald"/>
                <a:cs typeface="Oswald"/>
                <a:sym typeface="Oswald"/>
              </a:rPr>
              <a:t> Prerrogativa que diz respeito aos níveis de autoridade dentro da estrutura da organização, manifestando-se pela presteza e o cumprimento de ordens. </a:t>
            </a:r>
            <a:r>
              <a:rPr lang="pt-BR" sz="2000">
                <a:solidFill>
                  <a:schemeClr val="dk1"/>
                </a:solidFill>
                <a:latin typeface="Oswald"/>
                <a:ea typeface="Oswald"/>
                <a:cs typeface="Oswald"/>
                <a:sym typeface="Oswald"/>
              </a:rPr>
              <a:t> (Atual)</a:t>
            </a:r>
            <a:endParaRPr sz="2000">
              <a:solidFill>
                <a:schemeClr val="dk1"/>
              </a:solidFill>
              <a:latin typeface="Oswald"/>
              <a:ea typeface="Oswald"/>
              <a:cs typeface="Oswald"/>
              <a:sym typeface="Oswald"/>
            </a:endParaRPr>
          </a:p>
          <a:p>
            <a:pPr indent="-355600" lvl="0" marL="457200" rtl="0" algn="just">
              <a:lnSpc>
                <a:spcPct val="115000"/>
              </a:lnSpc>
              <a:spcBef>
                <a:spcPts val="0"/>
              </a:spcBef>
              <a:spcAft>
                <a:spcPts val="0"/>
              </a:spcAft>
              <a:buClr>
                <a:schemeClr val="dk1"/>
              </a:buClr>
              <a:buSzPts val="2000"/>
              <a:buFont typeface="Oswald"/>
              <a:buChar char="●"/>
            </a:pPr>
            <a:r>
              <a:rPr b="1" lang="pt-BR" sz="2000">
                <a:solidFill>
                  <a:schemeClr val="dk1"/>
                </a:solidFill>
                <a:latin typeface="Oswald"/>
                <a:ea typeface="Oswald"/>
                <a:cs typeface="Oswald"/>
                <a:sym typeface="Oswald"/>
              </a:rPr>
              <a:t>Profissionalismo:</a:t>
            </a:r>
            <a:r>
              <a:rPr lang="pt-BR" sz="2000">
                <a:solidFill>
                  <a:schemeClr val="dk1"/>
                </a:solidFill>
                <a:latin typeface="Oswald"/>
                <a:ea typeface="Oswald"/>
                <a:cs typeface="Oswald"/>
                <a:sym typeface="Oswald"/>
              </a:rPr>
              <a:t> É o exercício do trabalho de maneira técnica, responsável e competente. </a:t>
            </a:r>
            <a:r>
              <a:rPr lang="pt-BR" sz="2000">
                <a:solidFill>
                  <a:schemeClr val="dk1"/>
                </a:solidFill>
                <a:latin typeface="Oswald"/>
                <a:ea typeface="Oswald"/>
                <a:cs typeface="Oswald"/>
                <a:sym typeface="Oswald"/>
              </a:rPr>
              <a:t>(Atual)</a:t>
            </a:r>
            <a:endParaRPr sz="2000">
              <a:solidFill>
                <a:schemeClr val="dk1"/>
              </a:solidFill>
              <a:latin typeface="Oswald"/>
              <a:ea typeface="Oswald"/>
              <a:cs typeface="Oswald"/>
              <a:sym typeface="Oswald"/>
            </a:endParaRPr>
          </a:p>
          <a:p>
            <a:pPr indent="-355600" lvl="0" marL="457200" rtl="0" algn="just">
              <a:lnSpc>
                <a:spcPct val="115000"/>
              </a:lnSpc>
              <a:spcBef>
                <a:spcPts val="0"/>
              </a:spcBef>
              <a:spcAft>
                <a:spcPts val="0"/>
              </a:spcAft>
              <a:buClr>
                <a:schemeClr val="dk1"/>
              </a:buClr>
              <a:buSzPts val="2000"/>
              <a:buFont typeface="Oswald"/>
              <a:buChar char="●"/>
            </a:pPr>
            <a:r>
              <a:rPr b="1" lang="pt-BR" sz="2000">
                <a:solidFill>
                  <a:schemeClr val="dk1"/>
                </a:solidFill>
                <a:latin typeface="Oswald"/>
                <a:ea typeface="Oswald"/>
                <a:cs typeface="Oswald"/>
                <a:sym typeface="Oswald"/>
              </a:rPr>
              <a:t>Tradição:</a:t>
            </a:r>
            <a:r>
              <a:rPr lang="pt-BR" sz="2000">
                <a:solidFill>
                  <a:schemeClr val="dk1"/>
                </a:solidFill>
                <a:latin typeface="Oswald"/>
                <a:ea typeface="Oswald"/>
                <a:cs typeface="Oswald"/>
                <a:sym typeface="Oswald"/>
              </a:rPr>
              <a:t> Conservação e respeito às boas práticas, valores, doutrinas e costumes da corporação, difundidos ao longo das gerações. </a:t>
            </a:r>
            <a:r>
              <a:rPr lang="pt-BR" sz="2000">
                <a:solidFill>
                  <a:schemeClr val="dk1"/>
                </a:solidFill>
                <a:latin typeface="Oswald"/>
                <a:ea typeface="Oswald"/>
                <a:cs typeface="Oswald"/>
                <a:sym typeface="Oswald"/>
              </a:rPr>
              <a:t>(Atual)</a:t>
            </a:r>
            <a:endParaRPr sz="2000">
              <a:solidFill>
                <a:schemeClr val="dk1"/>
              </a:solidFill>
              <a:latin typeface="Oswald"/>
              <a:ea typeface="Oswald"/>
              <a:cs typeface="Oswald"/>
              <a:sym typeface="Oswald"/>
            </a:endParaRPr>
          </a:p>
          <a:p>
            <a:pPr indent="-355600" lvl="0" marL="457200" rtl="0" algn="just">
              <a:lnSpc>
                <a:spcPct val="115000"/>
              </a:lnSpc>
              <a:spcBef>
                <a:spcPts val="0"/>
              </a:spcBef>
              <a:spcAft>
                <a:spcPts val="0"/>
              </a:spcAft>
              <a:buClr>
                <a:schemeClr val="dk1"/>
              </a:buClr>
              <a:buSzPts val="2000"/>
              <a:buFont typeface="Oswald"/>
              <a:buChar char="●"/>
            </a:pPr>
            <a:r>
              <a:rPr b="1" lang="pt-BR" sz="2000">
                <a:solidFill>
                  <a:schemeClr val="dk1"/>
                </a:solidFill>
                <a:latin typeface="Oswald"/>
                <a:ea typeface="Oswald"/>
                <a:cs typeface="Oswald"/>
                <a:sym typeface="Oswald"/>
              </a:rPr>
              <a:t>T</a:t>
            </a:r>
            <a:r>
              <a:rPr b="1" lang="pt-BR" sz="2000">
                <a:solidFill>
                  <a:schemeClr val="dk1"/>
                </a:solidFill>
                <a:latin typeface="Oswald"/>
                <a:ea typeface="Oswald"/>
                <a:cs typeface="Oswald"/>
                <a:sym typeface="Oswald"/>
              </a:rPr>
              <a:t>r</a:t>
            </a:r>
            <a:r>
              <a:rPr b="1" lang="pt-BR" sz="2000">
                <a:solidFill>
                  <a:schemeClr val="dk1"/>
                </a:solidFill>
                <a:latin typeface="Oswald"/>
                <a:ea typeface="Oswald"/>
                <a:cs typeface="Oswald"/>
                <a:sym typeface="Oswald"/>
              </a:rPr>
              <a:t>ansparência:</a:t>
            </a:r>
            <a:r>
              <a:rPr lang="pt-BR" sz="2000">
                <a:solidFill>
                  <a:schemeClr val="dk1"/>
                </a:solidFill>
                <a:latin typeface="Oswald"/>
                <a:ea typeface="Oswald"/>
                <a:cs typeface="Oswald"/>
                <a:sym typeface="Oswald"/>
              </a:rPr>
              <a:t> Publicização dos atos institucionais, administrativos e   financeiros  para o público interno e externo de forma clara e   desburocratizada. (Novo)</a:t>
            </a:r>
            <a:endParaRPr sz="2000">
              <a:solidFill>
                <a:schemeClr val="dk1"/>
              </a:solidFill>
              <a:latin typeface="Oswald"/>
              <a:ea typeface="Oswald"/>
              <a:cs typeface="Oswald"/>
              <a:sym typeface="Oswald"/>
            </a:endParaRPr>
          </a:p>
          <a:p>
            <a:pPr indent="0" lvl="0" marL="457200" rtl="0" algn="just">
              <a:lnSpc>
                <a:spcPct val="115000"/>
              </a:lnSpc>
              <a:spcBef>
                <a:spcPts val="1200"/>
              </a:spcBef>
              <a:spcAft>
                <a:spcPts val="0"/>
              </a:spcAft>
              <a:buNone/>
            </a:pPr>
            <a:r>
              <a:t/>
            </a:r>
            <a:endParaRPr sz="2000">
              <a:solidFill>
                <a:schemeClr val="dk1"/>
              </a:solidFill>
              <a:latin typeface="Oswald"/>
              <a:ea typeface="Oswald"/>
              <a:cs typeface="Oswald"/>
              <a:sym typeface="Oswald"/>
            </a:endParaRPr>
          </a:p>
          <a:p>
            <a:pPr indent="0" lvl="0" marL="0" rtl="0" algn="l">
              <a:lnSpc>
                <a:spcPct val="200000"/>
              </a:lnSpc>
              <a:spcBef>
                <a:spcPts val="1200"/>
              </a:spcBef>
              <a:spcAft>
                <a:spcPts val="0"/>
              </a:spcAft>
              <a:buNone/>
            </a:pPr>
            <a:r>
              <a:t/>
            </a:r>
            <a:endParaRPr sz="2000">
              <a:solidFill>
                <a:schemeClr val="dk1"/>
              </a:solidFill>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306" name="Google Shape;306;p42"/>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307" name="Google Shape;307;p42"/>
          <p:cNvSpPr txBox="1"/>
          <p:nvPr/>
        </p:nvSpPr>
        <p:spPr>
          <a:xfrm>
            <a:off x="152400" y="319575"/>
            <a:ext cx="60084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REVISÃO: Proposta de Valores  </a:t>
            </a:r>
            <a:endParaRPr b="0" i="0" sz="1200" u="none" cap="none" strike="noStrike">
              <a:solidFill>
                <a:srgbClr val="000000"/>
              </a:solidFill>
              <a:latin typeface="Arial"/>
              <a:ea typeface="Arial"/>
              <a:cs typeface="Arial"/>
              <a:sym typeface="Arial"/>
            </a:endParaRPr>
          </a:p>
        </p:txBody>
      </p:sp>
      <p:sp>
        <p:nvSpPr>
          <p:cNvPr id="308" name="Google Shape;308;p42"/>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309" name="Google Shape;309;p42"/>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310" name="Google Shape;310;p42"/>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314" name="Shape 314"/>
        <p:cNvGrpSpPr/>
        <p:nvPr/>
      </p:nvGrpSpPr>
      <p:grpSpPr>
        <a:xfrm>
          <a:off x="0" y="0"/>
          <a:ext cx="0" cy="0"/>
          <a:chOff x="0" y="0"/>
          <a:chExt cx="0" cy="0"/>
        </a:xfrm>
      </p:grpSpPr>
      <p:sp>
        <p:nvSpPr>
          <p:cNvPr id="315" name="Google Shape;315;p43"/>
          <p:cNvSpPr/>
          <p:nvPr/>
        </p:nvSpPr>
        <p:spPr>
          <a:xfrm>
            <a:off x="-10614" y="-7961"/>
            <a:ext cx="9156000" cy="5171100"/>
          </a:xfrm>
          <a:prstGeom prst="rect">
            <a:avLst/>
          </a:prstGeom>
          <a:solidFill>
            <a:srgbClr val="FFFFFF"/>
          </a:solidFill>
          <a:ln>
            <a:noFill/>
          </a:ln>
        </p:spPr>
        <p:txBody>
          <a:bodyPr anchorCtr="0" anchor="t"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100000"/>
              </a:lnSpc>
              <a:spcBef>
                <a:spcPts val="1200"/>
              </a:spcBef>
              <a:spcAft>
                <a:spcPts val="0"/>
              </a:spcAft>
              <a:buNone/>
            </a:pPr>
            <a:r>
              <a:rPr lang="pt-BR" sz="2000">
                <a:solidFill>
                  <a:schemeClr val="dk1"/>
                </a:solidFill>
                <a:highlight>
                  <a:schemeClr val="lt1"/>
                </a:highlight>
                <a:latin typeface="Oswald"/>
                <a:ea typeface="Oswald"/>
                <a:cs typeface="Oswald"/>
                <a:sym typeface="Oswald"/>
              </a:rPr>
              <a:t>Proposta: </a:t>
            </a:r>
            <a:endParaRPr sz="2000">
              <a:solidFill>
                <a:schemeClr val="dk1"/>
              </a:solidFill>
              <a:highlight>
                <a:schemeClr val="lt1"/>
              </a:highlight>
              <a:latin typeface="Oswald"/>
              <a:ea typeface="Oswald"/>
              <a:cs typeface="Oswald"/>
              <a:sym typeface="Oswald"/>
            </a:endParaRPr>
          </a:p>
          <a:p>
            <a:pPr indent="0" lvl="0" marL="0" rtl="0" algn="l">
              <a:lnSpc>
                <a:spcPct val="100000"/>
              </a:lnSpc>
              <a:spcBef>
                <a:spcPts val="1200"/>
              </a:spcBef>
              <a:spcAft>
                <a:spcPts val="0"/>
              </a:spcAft>
              <a:buNone/>
            </a:pPr>
            <a:r>
              <a:t/>
            </a:r>
            <a:endParaRPr sz="2000">
              <a:solidFill>
                <a:schemeClr val="dk1"/>
              </a:solidFill>
              <a:highlight>
                <a:schemeClr val="lt1"/>
              </a:highlight>
              <a:latin typeface="Oswald"/>
              <a:ea typeface="Oswald"/>
              <a:cs typeface="Oswald"/>
              <a:sym typeface="Oswald"/>
            </a:endParaRPr>
          </a:p>
          <a:p>
            <a:pPr indent="-355600" lvl="0" marL="457200" rtl="0" algn="just">
              <a:lnSpc>
                <a:spcPct val="115000"/>
              </a:lnSpc>
              <a:spcBef>
                <a:spcPts val="1200"/>
              </a:spcBef>
              <a:spcAft>
                <a:spcPts val="0"/>
              </a:spcAft>
              <a:buClr>
                <a:schemeClr val="dk1"/>
              </a:buClr>
              <a:buSzPts val="2000"/>
              <a:buFont typeface="Oswald"/>
              <a:buChar char="●"/>
            </a:pPr>
            <a:r>
              <a:rPr b="1" lang="pt-BR" sz="2000">
                <a:solidFill>
                  <a:schemeClr val="dk1"/>
                </a:solidFill>
                <a:latin typeface="Oswald"/>
                <a:ea typeface="Oswald"/>
                <a:cs typeface="Oswald"/>
                <a:sym typeface="Oswald"/>
              </a:rPr>
              <a:t>Respeito à vida:</a:t>
            </a:r>
            <a:r>
              <a:rPr lang="pt-BR" sz="2000">
                <a:solidFill>
                  <a:schemeClr val="dk1"/>
                </a:solidFill>
                <a:latin typeface="Oswald"/>
                <a:ea typeface="Oswald"/>
                <a:cs typeface="Oswald"/>
                <a:sym typeface="Oswald"/>
              </a:rPr>
              <a:t> Consciência de que a vida é o bem mais importante, sendo o alvo primário da missão institucional. </a:t>
            </a:r>
            <a:r>
              <a:rPr lang="pt-BR" sz="2000">
                <a:solidFill>
                  <a:schemeClr val="dk1"/>
                </a:solidFill>
                <a:latin typeface="Oswald"/>
                <a:ea typeface="Oswald"/>
                <a:cs typeface="Oswald"/>
                <a:sym typeface="Oswald"/>
              </a:rPr>
              <a:t>(Atual)</a:t>
            </a:r>
            <a:endParaRPr sz="2000">
              <a:solidFill>
                <a:schemeClr val="dk1"/>
              </a:solidFill>
              <a:latin typeface="Oswald"/>
              <a:ea typeface="Oswald"/>
              <a:cs typeface="Oswald"/>
              <a:sym typeface="Oswald"/>
            </a:endParaRPr>
          </a:p>
          <a:p>
            <a:pPr indent="-355600" lvl="0" marL="457200" rtl="0" algn="just">
              <a:lnSpc>
                <a:spcPct val="115000"/>
              </a:lnSpc>
              <a:spcBef>
                <a:spcPts val="0"/>
              </a:spcBef>
              <a:spcAft>
                <a:spcPts val="0"/>
              </a:spcAft>
              <a:buClr>
                <a:schemeClr val="dk1"/>
              </a:buClr>
              <a:buSzPts val="2000"/>
              <a:buFont typeface="Oswald"/>
              <a:buChar char="●"/>
            </a:pPr>
            <a:r>
              <a:rPr b="1" lang="pt-BR" sz="2000">
                <a:solidFill>
                  <a:schemeClr val="dk1"/>
                </a:solidFill>
                <a:latin typeface="Oswald"/>
                <a:ea typeface="Oswald"/>
                <a:cs typeface="Oswald"/>
                <a:sym typeface="Oswald"/>
              </a:rPr>
              <a:t>Responsabilidade socioambiental:</a:t>
            </a:r>
            <a:r>
              <a:rPr lang="pt-BR" sz="2000">
                <a:solidFill>
                  <a:schemeClr val="dk1"/>
                </a:solidFill>
                <a:latin typeface="Oswald"/>
                <a:ea typeface="Oswald"/>
                <a:cs typeface="Oswald"/>
                <a:sym typeface="Oswald"/>
              </a:rPr>
              <a:t> Compromisso com o desenvolvimento sustentável, em benefício da sociedade, da corporação e do meio ambiente. </a:t>
            </a:r>
            <a:r>
              <a:rPr lang="pt-BR" sz="2000">
                <a:solidFill>
                  <a:schemeClr val="dk1"/>
                </a:solidFill>
                <a:latin typeface="Oswald"/>
                <a:ea typeface="Oswald"/>
                <a:cs typeface="Oswald"/>
                <a:sym typeface="Oswald"/>
              </a:rPr>
              <a:t>(Atual)</a:t>
            </a:r>
            <a:endParaRPr sz="2000">
              <a:solidFill>
                <a:schemeClr val="dk1"/>
              </a:solidFill>
              <a:latin typeface="Oswald"/>
              <a:ea typeface="Oswald"/>
              <a:cs typeface="Oswald"/>
              <a:sym typeface="Oswald"/>
            </a:endParaRPr>
          </a:p>
          <a:p>
            <a:pPr indent="0" lvl="0" marL="457200" rtl="0" algn="just">
              <a:lnSpc>
                <a:spcPct val="115000"/>
              </a:lnSpc>
              <a:spcBef>
                <a:spcPts val="1200"/>
              </a:spcBef>
              <a:spcAft>
                <a:spcPts val="0"/>
              </a:spcAft>
              <a:buNone/>
            </a:pPr>
            <a:r>
              <a:t/>
            </a:r>
            <a:endParaRPr sz="2000">
              <a:solidFill>
                <a:schemeClr val="dk1"/>
              </a:solidFill>
              <a:latin typeface="Oswald"/>
              <a:ea typeface="Oswald"/>
              <a:cs typeface="Oswald"/>
              <a:sym typeface="Oswald"/>
            </a:endParaRPr>
          </a:p>
          <a:p>
            <a:pPr indent="0" lvl="0" marL="0" rtl="0" algn="l">
              <a:lnSpc>
                <a:spcPct val="200000"/>
              </a:lnSpc>
              <a:spcBef>
                <a:spcPts val="1200"/>
              </a:spcBef>
              <a:spcAft>
                <a:spcPts val="0"/>
              </a:spcAft>
              <a:buNone/>
            </a:pPr>
            <a:r>
              <a:t/>
            </a:r>
            <a:endParaRPr sz="2000">
              <a:solidFill>
                <a:schemeClr val="dk1"/>
              </a:solidFill>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316" name="Google Shape;316;p43"/>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317" name="Google Shape;317;p43"/>
          <p:cNvSpPr txBox="1"/>
          <p:nvPr/>
        </p:nvSpPr>
        <p:spPr>
          <a:xfrm>
            <a:off x="152400" y="319575"/>
            <a:ext cx="60084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REVISÃO: Proposta de Valores  </a:t>
            </a:r>
            <a:endParaRPr b="0" i="0" sz="1200" u="none" cap="none" strike="noStrike">
              <a:solidFill>
                <a:srgbClr val="000000"/>
              </a:solidFill>
              <a:latin typeface="Arial"/>
              <a:ea typeface="Arial"/>
              <a:cs typeface="Arial"/>
              <a:sym typeface="Arial"/>
            </a:endParaRPr>
          </a:p>
        </p:txBody>
      </p:sp>
      <p:sp>
        <p:nvSpPr>
          <p:cNvPr id="318" name="Google Shape;318;p43"/>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319" name="Google Shape;319;p43"/>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320" name="Google Shape;320;p43"/>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324" name="Shape 324"/>
        <p:cNvGrpSpPr/>
        <p:nvPr/>
      </p:nvGrpSpPr>
      <p:grpSpPr>
        <a:xfrm>
          <a:off x="0" y="0"/>
          <a:ext cx="0" cy="0"/>
          <a:chOff x="0" y="0"/>
          <a:chExt cx="0" cy="0"/>
        </a:xfrm>
      </p:grpSpPr>
      <p:sp>
        <p:nvSpPr>
          <p:cNvPr id="325" name="Google Shape;325;p44"/>
          <p:cNvSpPr/>
          <p:nvPr/>
        </p:nvSpPr>
        <p:spPr>
          <a:xfrm>
            <a:off x="-10614" y="-7961"/>
            <a:ext cx="9156000" cy="5171100"/>
          </a:xfrm>
          <a:prstGeom prst="rect">
            <a:avLst/>
          </a:prstGeom>
          <a:solidFill>
            <a:srgbClr val="FFFFFF"/>
          </a:solidFill>
          <a:ln>
            <a:noFill/>
          </a:ln>
        </p:spPr>
        <p:txBody>
          <a:bodyPr anchorCtr="0" anchor="t"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100000"/>
              </a:lnSpc>
              <a:spcBef>
                <a:spcPts val="1200"/>
              </a:spcBef>
              <a:spcAft>
                <a:spcPts val="0"/>
              </a:spcAft>
              <a:buNone/>
            </a:pPr>
            <a:r>
              <a:rPr lang="pt-BR" sz="2000">
                <a:solidFill>
                  <a:schemeClr val="dk1"/>
                </a:solidFill>
                <a:highlight>
                  <a:schemeClr val="lt1"/>
                </a:highlight>
                <a:latin typeface="Oswald"/>
                <a:ea typeface="Oswald"/>
                <a:cs typeface="Oswald"/>
                <a:sym typeface="Oswald"/>
              </a:rPr>
              <a:t>Aprovado</a:t>
            </a:r>
            <a:r>
              <a:rPr lang="pt-BR" sz="2000">
                <a:solidFill>
                  <a:schemeClr val="dk1"/>
                </a:solidFill>
                <a:highlight>
                  <a:schemeClr val="lt1"/>
                </a:highlight>
                <a:latin typeface="Oswald"/>
                <a:ea typeface="Oswald"/>
                <a:cs typeface="Oswald"/>
                <a:sym typeface="Oswald"/>
              </a:rPr>
              <a:t>:</a:t>
            </a:r>
            <a:endParaRPr sz="2000">
              <a:solidFill>
                <a:schemeClr val="dk1"/>
              </a:solidFill>
              <a:highlight>
                <a:schemeClr val="lt1"/>
              </a:highlight>
              <a:latin typeface="Oswald"/>
              <a:ea typeface="Oswald"/>
              <a:cs typeface="Oswald"/>
              <a:sym typeface="Oswald"/>
            </a:endParaRPr>
          </a:p>
          <a:p>
            <a:pPr indent="-355600" lvl="0" marL="457200" rtl="0" algn="l">
              <a:lnSpc>
                <a:spcPct val="100000"/>
              </a:lnSpc>
              <a:spcBef>
                <a:spcPts val="1200"/>
              </a:spcBef>
              <a:spcAft>
                <a:spcPts val="0"/>
              </a:spcAft>
              <a:buClr>
                <a:schemeClr val="accent1"/>
              </a:buClr>
              <a:buSzPts val="2000"/>
              <a:buFont typeface="Oswald"/>
              <a:buChar char="●"/>
            </a:pPr>
            <a:r>
              <a:rPr lang="pt-BR" sz="2000">
                <a:solidFill>
                  <a:schemeClr val="accent1"/>
                </a:solidFill>
                <a:highlight>
                  <a:schemeClr val="lt1"/>
                </a:highlight>
                <a:latin typeface="Oswald"/>
                <a:ea typeface="Oswald"/>
                <a:cs typeface="Oswald"/>
                <a:sym typeface="Oswald"/>
              </a:rPr>
              <a:t>“</a:t>
            </a:r>
            <a:r>
              <a:rPr b="1" lang="pt-BR" sz="2000">
                <a:solidFill>
                  <a:schemeClr val="accent1"/>
                </a:solidFill>
                <a:latin typeface="Oswald"/>
                <a:ea typeface="Oswald"/>
                <a:cs typeface="Oswald"/>
                <a:sym typeface="Oswald"/>
              </a:rPr>
              <a:t>Comprometimento: </a:t>
            </a:r>
            <a:r>
              <a:rPr lang="pt-BR" sz="2000">
                <a:solidFill>
                  <a:schemeClr val="accent1"/>
                </a:solidFill>
                <a:latin typeface="Oswald"/>
                <a:ea typeface="Oswald"/>
                <a:cs typeface="Oswald"/>
                <a:sym typeface="Oswald"/>
              </a:rPr>
              <a:t>Condição que vai além da responsabilidade assumida, contemplando envolvimento e motivação para cumprir o compromisso da melhor forma possível. </a:t>
            </a:r>
            <a:endParaRPr sz="2000">
              <a:solidFill>
                <a:schemeClr val="accent1"/>
              </a:solidFill>
              <a:latin typeface="Oswald"/>
              <a:ea typeface="Oswald"/>
              <a:cs typeface="Oswald"/>
              <a:sym typeface="Oswald"/>
            </a:endParaRPr>
          </a:p>
          <a:p>
            <a:pPr indent="-355600" lvl="0" marL="457200" rtl="0" algn="l">
              <a:lnSpc>
                <a:spcPct val="100000"/>
              </a:lnSpc>
              <a:spcBef>
                <a:spcPts val="0"/>
              </a:spcBef>
              <a:spcAft>
                <a:spcPts val="0"/>
              </a:spcAft>
              <a:buClr>
                <a:schemeClr val="accent1"/>
              </a:buClr>
              <a:buSzPts val="2000"/>
              <a:buFont typeface="Oswald"/>
              <a:buChar char="●"/>
            </a:pPr>
            <a:r>
              <a:rPr b="1" lang="pt-BR" sz="2000">
                <a:solidFill>
                  <a:schemeClr val="accent1"/>
                </a:solidFill>
                <a:latin typeface="Oswald"/>
                <a:ea typeface="Oswald"/>
                <a:cs typeface="Oswald"/>
                <a:sym typeface="Oswald"/>
              </a:rPr>
              <a:t>Coragem:</a:t>
            </a:r>
            <a:r>
              <a:rPr lang="pt-BR" sz="2000">
                <a:solidFill>
                  <a:schemeClr val="accent1"/>
                </a:solidFill>
                <a:latin typeface="Oswald"/>
                <a:ea typeface="Oswald"/>
                <a:cs typeface="Oswald"/>
                <a:sym typeface="Oswald"/>
              </a:rPr>
              <a:t> Enfrentamento das situações com valentia, destemor e firmeza de espírito. </a:t>
            </a:r>
            <a:endParaRPr sz="2000">
              <a:solidFill>
                <a:schemeClr val="accent1"/>
              </a:solidFill>
              <a:latin typeface="Oswald"/>
              <a:ea typeface="Oswald"/>
              <a:cs typeface="Oswald"/>
              <a:sym typeface="Oswald"/>
            </a:endParaRPr>
          </a:p>
          <a:p>
            <a:pPr indent="-355600" lvl="0" marL="457200" rtl="0" algn="just">
              <a:lnSpc>
                <a:spcPct val="115000"/>
              </a:lnSpc>
              <a:spcBef>
                <a:spcPts val="0"/>
              </a:spcBef>
              <a:spcAft>
                <a:spcPts val="0"/>
              </a:spcAft>
              <a:buClr>
                <a:schemeClr val="accent1"/>
              </a:buClr>
              <a:buSzPts val="2000"/>
              <a:buFont typeface="Oswald"/>
              <a:buChar char="●"/>
            </a:pPr>
            <a:r>
              <a:rPr b="1" lang="pt-BR" sz="2000">
                <a:solidFill>
                  <a:schemeClr val="accent1"/>
                </a:solidFill>
                <a:latin typeface="Oswald"/>
                <a:ea typeface="Oswald"/>
                <a:cs typeface="Oswald"/>
                <a:sym typeface="Oswald"/>
              </a:rPr>
              <a:t>Disciplina:</a:t>
            </a:r>
            <a:r>
              <a:rPr lang="pt-BR" sz="2000">
                <a:solidFill>
                  <a:schemeClr val="accent1"/>
                </a:solidFill>
                <a:latin typeface="Oswald"/>
                <a:ea typeface="Oswald"/>
                <a:cs typeface="Oswald"/>
                <a:sym typeface="Oswald"/>
              </a:rPr>
              <a:t> Observância e acatamento integral das leis, regulamentos, normas e disposições que fundamentam a organização, traduzindo-se pelo cumprimento do dever. </a:t>
            </a:r>
            <a:endParaRPr sz="2000">
              <a:solidFill>
                <a:schemeClr val="accent1"/>
              </a:solidFill>
              <a:latin typeface="Oswald"/>
              <a:ea typeface="Oswald"/>
              <a:cs typeface="Oswald"/>
              <a:sym typeface="Oswald"/>
            </a:endParaRPr>
          </a:p>
          <a:p>
            <a:pPr indent="-355600" lvl="0" marL="457200" rtl="0" algn="just">
              <a:lnSpc>
                <a:spcPct val="115000"/>
              </a:lnSpc>
              <a:spcBef>
                <a:spcPts val="0"/>
              </a:spcBef>
              <a:spcAft>
                <a:spcPts val="0"/>
              </a:spcAft>
              <a:buClr>
                <a:schemeClr val="accent1"/>
              </a:buClr>
              <a:buSzPts val="2000"/>
              <a:buFont typeface="Oswald"/>
              <a:buChar char="●"/>
            </a:pPr>
            <a:r>
              <a:rPr b="1" lang="pt-BR" sz="2000">
                <a:solidFill>
                  <a:schemeClr val="accent1"/>
                </a:solidFill>
                <a:latin typeface="Oswald"/>
                <a:ea typeface="Oswald"/>
                <a:cs typeface="Oswald"/>
                <a:sym typeface="Oswald"/>
              </a:rPr>
              <a:t>Ética:</a:t>
            </a:r>
            <a:r>
              <a:rPr lang="pt-BR" sz="2000">
                <a:solidFill>
                  <a:schemeClr val="accent1"/>
                </a:solidFill>
                <a:latin typeface="Oswald"/>
                <a:ea typeface="Oswald"/>
                <a:cs typeface="Oswald"/>
                <a:sym typeface="Oswald"/>
              </a:rPr>
              <a:t> Conjunto de valores e princípios que norteiam a conduta dos bombeiros militares no exercício da profissão.  (...)</a:t>
            </a:r>
            <a:endParaRPr sz="2000">
              <a:solidFill>
                <a:schemeClr val="accent1"/>
              </a:solidFill>
              <a:latin typeface="Oswald"/>
              <a:ea typeface="Oswald"/>
              <a:cs typeface="Oswald"/>
              <a:sym typeface="Oswald"/>
            </a:endParaRPr>
          </a:p>
          <a:p>
            <a:pPr indent="0" lvl="0" marL="457200" rtl="0" algn="just">
              <a:lnSpc>
                <a:spcPct val="115000"/>
              </a:lnSpc>
              <a:spcBef>
                <a:spcPts val="1200"/>
              </a:spcBef>
              <a:spcAft>
                <a:spcPts val="0"/>
              </a:spcAft>
              <a:buNone/>
            </a:pPr>
            <a:r>
              <a:t/>
            </a:r>
            <a:endParaRPr sz="2000">
              <a:solidFill>
                <a:schemeClr val="dk1"/>
              </a:solidFill>
              <a:latin typeface="Oswald"/>
              <a:ea typeface="Oswald"/>
              <a:cs typeface="Oswald"/>
              <a:sym typeface="Oswald"/>
            </a:endParaRPr>
          </a:p>
          <a:p>
            <a:pPr indent="0" lvl="0" marL="0" rtl="0" algn="l">
              <a:lnSpc>
                <a:spcPct val="200000"/>
              </a:lnSpc>
              <a:spcBef>
                <a:spcPts val="1200"/>
              </a:spcBef>
              <a:spcAft>
                <a:spcPts val="0"/>
              </a:spcAft>
              <a:buNone/>
            </a:pPr>
            <a:r>
              <a:t/>
            </a:r>
            <a:endParaRPr sz="2000">
              <a:solidFill>
                <a:schemeClr val="dk1"/>
              </a:solidFill>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326" name="Google Shape;326;p44"/>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327" name="Google Shape;327;p44"/>
          <p:cNvSpPr txBox="1"/>
          <p:nvPr/>
        </p:nvSpPr>
        <p:spPr>
          <a:xfrm>
            <a:off x="152400" y="319575"/>
            <a:ext cx="60084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REVISÃO: Proposta de Valores  </a:t>
            </a:r>
            <a:endParaRPr b="0" i="0" sz="1200" u="none" cap="none" strike="noStrike">
              <a:solidFill>
                <a:srgbClr val="000000"/>
              </a:solidFill>
              <a:latin typeface="Arial"/>
              <a:ea typeface="Arial"/>
              <a:cs typeface="Arial"/>
              <a:sym typeface="Arial"/>
            </a:endParaRPr>
          </a:p>
        </p:txBody>
      </p:sp>
      <p:sp>
        <p:nvSpPr>
          <p:cNvPr id="328" name="Google Shape;328;p44"/>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329" name="Google Shape;329;p44"/>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330" name="Google Shape;330;p44"/>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334" name="Shape 334"/>
        <p:cNvGrpSpPr/>
        <p:nvPr/>
      </p:nvGrpSpPr>
      <p:grpSpPr>
        <a:xfrm>
          <a:off x="0" y="0"/>
          <a:ext cx="0" cy="0"/>
          <a:chOff x="0" y="0"/>
          <a:chExt cx="0" cy="0"/>
        </a:xfrm>
      </p:grpSpPr>
      <p:sp>
        <p:nvSpPr>
          <p:cNvPr id="335" name="Google Shape;335;p45"/>
          <p:cNvSpPr/>
          <p:nvPr/>
        </p:nvSpPr>
        <p:spPr>
          <a:xfrm>
            <a:off x="-10614" y="-7961"/>
            <a:ext cx="9156000" cy="5171100"/>
          </a:xfrm>
          <a:prstGeom prst="rect">
            <a:avLst/>
          </a:prstGeom>
          <a:solidFill>
            <a:srgbClr val="FFFFFF"/>
          </a:solidFill>
          <a:ln>
            <a:noFill/>
          </a:ln>
        </p:spPr>
        <p:txBody>
          <a:bodyPr anchorCtr="0" anchor="t"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100000"/>
              </a:lnSpc>
              <a:spcBef>
                <a:spcPts val="1200"/>
              </a:spcBef>
              <a:spcAft>
                <a:spcPts val="0"/>
              </a:spcAft>
              <a:buNone/>
            </a:pPr>
            <a:r>
              <a:rPr lang="pt-BR" sz="2000">
                <a:solidFill>
                  <a:schemeClr val="dk1"/>
                </a:solidFill>
                <a:highlight>
                  <a:schemeClr val="lt1"/>
                </a:highlight>
                <a:latin typeface="Oswald"/>
                <a:ea typeface="Oswald"/>
                <a:cs typeface="Oswald"/>
                <a:sym typeface="Oswald"/>
              </a:rPr>
              <a:t>Aprovado</a:t>
            </a:r>
            <a:r>
              <a:rPr lang="pt-BR" sz="2000">
                <a:solidFill>
                  <a:schemeClr val="dk1"/>
                </a:solidFill>
                <a:highlight>
                  <a:schemeClr val="lt1"/>
                </a:highlight>
                <a:latin typeface="Oswald"/>
                <a:ea typeface="Oswald"/>
                <a:cs typeface="Oswald"/>
                <a:sym typeface="Oswald"/>
              </a:rPr>
              <a:t>: </a:t>
            </a:r>
            <a:endParaRPr sz="2000">
              <a:solidFill>
                <a:schemeClr val="dk1"/>
              </a:solidFill>
              <a:highlight>
                <a:schemeClr val="lt1"/>
              </a:highlight>
              <a:latin typeface="Oswald"/>
              <a:ea typeface="Oswald"/>
              <a:cs typeface="Oswald"/>
              <a:sym typeface="Oswald"/>
            </a:endParaRPr>
          </a:p>
          <a:p>
            <a:pPr indent="457200" lvl="0" marL="0" rtl="0" algn="l">
              <a:lnSpc>
                <a:spcPct val="100000"/>
              </a:lnSpc>
              <a:spcBef>
                <a:spcPts val="1200"/>
              </a:spcBef>
              <a:spcAft>
                <a:spcPts val="0"/>
              </a:spcAft>
              <a:buNone/>
            </a:pPr>
            <a:r>
              <a:rPr lang="pt-BR" sz="2000">
                <a:solidFill>
                  <a:schemeClr val="accent1"/>
                </a:solidFill>
                <a:highlight>
                  <a:schemeClr val="lt1"/>
                </a:highlight>
                <a:latin typeface="Oswald"/>
                <a:ea typeface="Oswald"/>
                <a:cs typeface="Oswald"/>
                <a:sym typeface="Oswald"/>
              </a:rPr>
              <a:t>(...)</a:t>
            </a:r>
            <a:endParaRPr sz="2000">
              <a:solidFill>
                <a:schemeClr val="accent1"/>
              </a:solidFill>
              <a:highlight>
                <a:schemeClr val="lt1"/>
              </a:highlight>
              <a:latin typeface="Oswald"/>
              <a:ea typeface="Oswald"/>
              <a:cs typeface="Oswald"/>
              <a:sym typeface="Oswald"/>
            </a:endParaRPr>
          </a:p>
          <a:p>
            <a:pPr indent="-355600" lvl="0" marL="457200" rtl="0" algn="just">
              <a:lnSpc>
                <a:spcPct val="100000"/>
              </a:lnSpc>
              <a:spcBef>
                <a:spcPts val="1200"/>
              </a:spcBef>
              <a:spcAft>
                <a:spcPts val="0"/>
              </a:spcAft>
              <a:buClr>
                <a:schemeClr val="accent1"/>
              </a:buClr>
              <a:buSzPts val="2000"/>
              <a:buFont typeface="Oswald"/>
              <a:buChar char="●"/>
            </a:pPr>
            <a:r>
              <a:rPr b="1" lang="pt-BR" sz="2000">
                <a:solidFill>
                  <a:schemeClr val="accent1"/>
                </a:solidFill>
                <a:latin typeface="Oswald"/>
                <a:ea typeface="Oswald"/>
                <a:cs typeface="Oswald"/>
                <a:sym typeface="Oswald"/>
              </a:rPr>
              <a:t>Hierarquia:</a:t>
            </a:r>
            <a:r>
              <a:rPr lang="pt-BR" sz="2000">
                <a:solidFill>
                  <a:schemeClr val="accent1"/>
                </a:solidFill>
                <a:latin typeface="Oswald"/>
                <a:ea typeface="Oswald"/>
                <a:cs typeface="Oswald"/>
                <a:sym typeface="Oswald"/>
              </a:rPr>
              <a:t> Prerrogativa que diz respeito aos níveis de autoridade dentro da estrutura da organização, manifestando-se pela presteza e o cumprimento de ordens. </a:t>
            </a:r>
            <a:endParaRPr sz="2000">
              <a:solidFill>
                <a:schemeClr val="accent1"/>
              </a:solidFill>
              <a:latin typeface="Oswald"/>
              <a:ea typeface="Oswald"/>
              <a:cs typeface="Oswald"/>
              <a:sym typeface="Oswald"/>
            </a:endParaRPr>
          </a:p>
          <a:p>
            <a:pPr indent="-355600" lvl="0" marL="457200" rtl="0" algn="just">
              <a:lnSpc>
                <a:spcPct val="100000"/>
              </a:lnSpc>
              <a:spcBef>
                <a:spcPts val="0"/>
              </a:spcBef>
              <a:spcAft>
                <a:spcPts val="0"/>
              </a:spcAft>
              <a:buClr>
                <a:schemeClr val="accent1"/>
              </a:buClr>
              <a:buSzPts val="2000"/>
              <a:buFont typeface="Oswald"/>
              <a:buChar char="●"/>
            </a:pPr>
            <a:r>
              <a:rPr b="1" lang="pt-BR" sz="2000">
                <a:solidFill>
                  <a:schemeClr val="accent1"/>
                </a:solidFill>
                <a:latin typeface="Oswald"/>
                <a:ea typeface="Oswald"/>
                <a:cs typeface="Oswald"/>
                <a:sym typeface="Oswald"/>
              </a:rPr>
              <a:t>Profissionalismo:</a:t>
            </a:r>
            <a:r>
              <a:rPr lang="pt-BR" sz="2000">
                <a:solidFill>
                  <a:schemeClr val="accent1"/>
                </a:solidFill>
                <a:latin typeface="Oswald"/>
                <a:ea typeface="Oswald"/>
                <a:cs typeface="Oswald"/>
                <a:sym typeface="Oswald"/>
              </a:rPr>
              <a:t> É o exercício do trabalho de maneira técnica, responsável e competente. </a:t>
            </a:r>
            <a:endParaRPr sz="2000">
              <a:solidFill>
                <a:schemeClr val="accent1"/>
              </a:solidFill>
              <a:latin typeface="Oswald"/>
              <a:ea typeface="Oswald"/>
              <a:cs typeface="Oswald"/>
              <a:sym typeface="Oswald"/>
            </a:endParaRPr>
          </a:p>
          <a:p>
            <a:pPr indent="-355600" lvl="0" marL="457200" rtl="0" algn="just">
              <a:lnSpc>
                <a:spcPct val="100000"/>
              </a:lnSpc>
              <a:spcBef>
                <a:spcPts val="0"/>
              </a:spcBef>
              <a:spcAft>
                <a:spcPts val="0"/>
              </a:spcAft>
              <a:buClr>
                <a:schemeClr val="accent1"/>
              </a:buClr>
              <a:buSzPts val="2000"/>
              <a:buFont typeface="Oswald"/>
              <a:buChar char="●"/>
            </a:pPr>
            <a:r>
              <a:rPr b="1" lang="pt-BR" sz="2000">
                <a:solidFill>
                  <a:schemeClr val="accent1"/>
                </a:solidFill>
                <a:latin typeface="Oswald"/>
                <a:ea typeface="Oswald"/>
                <a:cs typeface="Oswald"/>
                <a:sym typeface="Oswald"/>
              </a:rPr>
              <a:t>Tradição:</a:t>
            </a:r>
            <a:r>
              <a:rPr lang="pt-BR" sz="2000">
                <a:solidFill>
                  <a:schemeClr val="accent1"/>
                </a:solidFill>
                <a:latin typeface="Oswald"/>
                <a:ea typeface="Oswald"/>
                <a:cs typeface="Oswald"/>
                <a:sym typeface="Oswald"/>
              </a:rPr>
              <a:t> Conservação e respeito às boas práticas, valores, doutrinas e costumes da corporação, difundidos ao longo das gerações. (...)</a:t>
            </a:r>
            <a:endParaRPr sz="2000">
              <a:solidFill>
                <a:schemeClr val="accent1"/>
              </a:solidFill>
              <a:latin typeface="Oswald"/>
              <a:ea typeface="Oswald"/>
              <a:cs typeface="Oswald"/>
              <a:sym typeface="Oswald"/>
            </a:endParaRPr>
          </a:p>
          <a:p>
            <a:pPr indent="0" lvl="0" marL="457200" rtl="0" algn="just">
              <a:lnSpc>
                <a:spcPct val="115000"/>
              </a:lnSpc>
              <a:spcBef>
                <a:spcPts val="1200"/>
              </a:spcBef>
              <a:spcAft>
                <a:spcPts val="0"/>
              </a:spcAft>
              <a:buNone/>
            </a:pPr>
            <a:r>
              <a:t/>
            </a:r>
            <a:endParaRPr sz="2000">
              <a:solidFill>
                <a:schemeClr val="dk1"/>
              </a:solidFill>
              <a:latin typeface="Oswald"/>
              <a:ea typeface="Oswald"/>
              <a:cs typeface="Oswald"/>
              <a:sym typeface="Oswald"/>
            </a:endParaRPr>
          </a:p>
          <a:p>
            <a:pPr indent="0" lvl="0" marL="0" rtl="0" algn="l">
              <a:lnSpc>
                <a:spcPct val="200000"/>
              </a:lnSpc>
              <a:spcBef>
                <a:spcPts val="1200"/>
              </a:spcBef>
              <a:spcAft>
                <a:spcPts val="0"/>
              </a:spcAft>
              <a:buNone/>
            </a:pPr>
            <a:r>
              <a:t/>
            </a:r>
            <a:endParaRPr sz="2000">
              <a:solidFill>
                <a:schemeClr val="dk1"/>
              </a:solidFill>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336" name="Google Shape;336;p45"/>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337" name="Google Shape;337;p45"/>
          <p:cNvSpPr txBox="1"/>
          <p:nvPr/>
        </p:nvSpPr>
        <p:spPr>
          <a:xfrm>
            <a:off x="152400" y="319575"/>
            <a:ext cx="60084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REVISÃO: Proposta de Valores  </a:t>
            </a:r>
            <a:endParaRPr b="0" i="0" sz="1200" u="none" cap="none" strike="noStrike">
              <a:solidFill>
                <a:srgbClr val="000000"/>
              </a:solidFill>
              <a:latin typeface="Arial"/>
              <a:ea typeface="Arial"/>
              <a:cs typeface="Arial"/>
              <a:sym typeface="Arial"/>
            </a:endParaRPr>
          </a:p>
        </p:txBody>
      </p:sp>
      <p:sp>
        <p:nvSpPr>
          <p:cNvPr id="338" name="Google Shape;338;p45"/>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339" name="Google Shape;339;p45"/>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340" name="Google Shape;340;p45"/>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344" name="Shape 344"/>
        <p:cNvGrpSpPr/>
        <p:nvPr/>
      </p:nvGrpSpPr>
      <p:grpSpPr>
        <a:xfrm>
          <a:off x="0" y="0"/>
          <a:ext cx="0" cy="0"/>
          <a:chOff x="0" y="0"/>
          <a:chExt cx="0" cy="0"/>
        </a:xfrm>
      </p:grpSpPr>
      <p:sp>
        <p:nvSpPr>
          <p:cNvPr id="345" name="Google Shape;345;p46"/>
          <p:cNvSpPr/>
          <p:nvPr/>
        </p:nvSpPr>
        <p:spPr>
          <a:xfrm>
            <a:off x="-10614" y="-7961"/>
            <a:ext cx="9156000" cy="5171100"/>
          </a:xfrm>
          <a:prstGeom prst="rect">
            <a:avLst/>
          </a:prstGeom>
          <a:solidFill>
            <a:srgbClr val="FFFFFF"/>
          </a:solidFill>
          <a:ln>
            <a:noFill/>
          </a:ln>
        </p:spPr>
        <p:txBody>
          <a:bodyPr anchorCtr="0" anchor="t"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100000"/>
              </a:lnSpc>
              <a:spcBef>
                <a:spcPts val="1200"/>
              </a:spcBef>
              <a:spcAft>
                <a:spcPts val="0"/>
              </a:spcAft>
              <a:buNone/>
            </a:pPr>
            <a:r>
              <a:rPr lang="pt-BR" sz="2000">
                <a:solidFill>
                  <a:schemeClr val="dk1"/>
                </a:solidFill>
                <a:highlight>
                  <a:schemeClr val="lt1"/>
                </a:highlight>
                <a:latin typeface="Oswald"/>
                <a:ea typeface="Oswald"/>
                <a:cs typeface="Oswald"/>
                <a:sym typeface="Oswald"/>
              </a:rPr>
              <a:t>Aprovado</a:t>
            </a:r>
            <a:r>
              <a:rPr lang="pt-BR" sz="2000">
                <a:solidFill>
                  <a:schemeClr val="dk1"/>
                </a:solidFill>
                <a:highlight>
                  <a:schemeClr val="lt1"/>
                </a:highlight>
                <a:latin typeface="Oswald"/>
                <a:ea typeface="Oswald"/>
                <a:cs typeface="Oswald"/>
                <a:sym typeface="Oswald"/>
              </a:rPr>
              <a:t>: </a:t>
            </a:r>
            <a:endParaRPr sz="2000">
              <a:solidFill>
                <a:schemeClr val="dk1"/>
              </a:solidFill>
              <a:highlight>
                <a:schemeClr val="lt1"/>
              </a:highlight>
              <a:latin typeface="Oswald"/>
              <a:ea typeface="Oswald"/>
              <a:cs typeface="Oswald"/>
              <a:sym typeface="Oswald"/>
            </a:endParaRPr>
          </a:p>
          <a:p>
            <a:pPr indent="457200" lvl="0" marL="0" rtl="0" algn="l">
              <a:lnSpc>
                <a:spcPct val="100000"/>
              </a:lnSpc>
              <a:spcBef>
                <a:spcPts val="1200"/>
              </a:spcBef>
              <a:spcAft>
                <a:spcPts val="0"/>
              </a:spcAft>
              <a:buNone/>
            </a:pPr>
            <a:r>
              <a:rPr lang="pt-BR" sz="2000">
                <a:solidFill>
                  <a:schemeClr val="accent1"/>
                </a:solidFill>
                <a:highlight>
                  <a:schemeClr val="lt1"/>
                </a:highlight>
                <a:latin typeface="Oswald"/>
                <a:ea typeface="Oswald"/>
                <a:cs typeface="Oswald"/>
                <a:sym typeface="Oswald"/>
              </a:rPr>
              <a:t>(...)</a:t>
            </a:r>
            <a:endParaRPr sz="2000">
              <a:solidFill>
                <a:schemeClr val="accent1"/>
              </a:solidFill>
              <a:highlight>
                <a:schemeClr val="lt1"/>
              </a:highlight>
              <a:latin typeface="Oswald"/>
              <a:ea typeface="Oswald"/>
              <a:cs typeface="Oswald"/>
              <a:sym typeface="Oswald"/>
            </a:endParaRPr>
          </a:p>
          <a:p>
            <a:pPr indent="-355600" lvl="0" marL="457200" rtl="0" algn="just">
              <a:spcBef>
                <a:spcPts val="1200"/>
              </a:spcBef>
              <a:spcAft>
                <a:spcPts val="0"/>
              </a:spcAft>
              <a:buClr>
                <a:schemeClr val="accent1"/>
              </a:buClr>
              <a:buSzPts val="2000"/>
              <a:buFont typeface="Oswald"/>
              <a:buChar char="●"/>
            </a:pPr>
            <a:r>
              <a:rPr b="1" lang="pt-BR" sz="2000">
                <a:solidFill>
                  <a:schemeClr val="accent1"/>
                </a:solidFill>
                <a:latin typeface="Oswald"/>
                <a:ea typeface="Oswald"/>
                <a:cs typeface="Oswald"/>
                <a:sym typeface="Oswald"/>
              </a:rPr>
              <a:t>Transparência:</a:t>
            </a:r>
            <a:r>
              <a:rPr lang="pt-BR" sz="2000">
                <a:solidFill>
                  <a:schemeClr val="accent1"/>
                </a:solidFill>
                <a:latin typeface="Oswald"/>
                <a:ea typeface="Oswald"/>
                <a:cs typeface="Oswald"/>
                <a:sym typeface="Oswald"/>
              </a:rPr>
              <a:t> Publicização dos atos institucionais, administrativos e   financeiros  para o público interno e externo de forma clara e   desburocratizada. </a:t>
            </a:r>
            <a:endParaRPr b="1" sz="2000">
              <a:solidFill>
                <a:schemeClr val="accent1"/>
              </a:solidFill>
              <a:latin typeface="Oswald"/>
              <a:ea typeface="Oswald"/>
              <a:cs typeface="Oswald"/>
              <a:sym typeface="Oswald"/>
            </a:endParaRPr>
          </a:p>
          <a:p>
            <a:pPr indent="-355600" lvl="0" marL="457200" rtl="0" algn="just">
              <a:lnSpc>
                <a:spcPct val="115000"/>
              </a:lnSpc>
              <a:spcBef>
                <a:spcPts val="0"/>
              </a:spcBef>
              <a:spcAft>
                <a:spcPts val="0"/>
              </a:spcAft>
              <a:buClr>
                <a:schemeClr val="accent1"/>
              </a:buClr>
              <a:buSzPts val="2000"/>
              <a:buFont typeface="Oswald"/>
              <a:buChar char="●"/>
            </a:pPr>
            <a:r>
              <a:rPr b="1" lang="pt-BR" sz="2000">
                <a:solidFill>
                  <a:schemeClr val="accent1"/>
                </a:solidFill>
                <a:latin typeface="Oswald"/>
                <a:ea typeface="Oswald"/>
                <a:cs typeface="Oswald"/>
                <a:sym typeface="Oswald"/>
              </a:rPr>
              <a:t>Respeito à vida:</a:t>
            </a:r>
            <a:r>
              <a:rPr lang="pt-BR" sz="2000">
                <a:solidFill>
                  <a:schemeClr val="accent1"/>
                </a:solidFill>
                <a:latin typeface="Oswald"/>
                <a:ea typeface="Oswald"/>
                <a:cs typeface="Oswald"/>
                <a:sym typeface="Oswald"/>
              </a:rPr>
              <a:t> Consciência de que a vida é o bem mais importante, sendo o alvo primário da missão institucional. </a:t>
            </a:r>
            <a:endParaRPr sz="2000">
              <a:solidFill>
                <a:schemeClr val="accent1"/>
              </a:solidFill>
              <a:latin typeface="Oswald"/>
              <a:ea typeface="Oswald"/>
              <a:cs typeface="Oswald"/>
              <a:sym typeface="Oswald"/>
            </a:endParaRPr>
          </a:p>
          <a:p>
            <a:pPr indent="-355600" lvl="0" marL="457200" rtl="0" algn="just">
              <a:lnSpc>
                <a:spcPct val="115000"/>
              </a:lnSpc>
              <a:spcBef>
                <a:spcPts val="0"/>
              </a:spcBef>
              <a:spcAft>
                <a:spcPts val="0"/>
              </a:spcAft>
              <a:buClr>
                <a:schemeClr val="accent1"/>
              </a:buClr>
              <a:buSzPts val="2000"/>
              <a:buFont typeface="Oswald"/>
              <a:buChar char="●"/>
            </a:pPr>
            <a:r>
              <a:rPr b="1" lang="pt-BR" sz="2000">
                <a:solidFill>
                  <a:schemeClr val="accent1"/>
                </a:solidFill>
                <a:latin typeface="Oswald"/>
                <a:ea typeface="Oswald"/>
                <a:cs typeface="Oswald"/>
                <a:sym typeface="Oswald"/>
              </a:rPr>
              <a:t>Responsabilidade socioambiental:</a:t>
            </a:r>
            <a:r>
              <a:rPr lang="pt-BR" sz="2000">
                <a:solidFill>
                  <a:schemeClr val="accent1"/>
                </a:solidFill>
                <a:latin typeface="Oswald"/>
                <a:ea typeface="Oswald"/>
                <a:cs typeface="Oswald"/>
                <a:sym typeface="Oswald"/>
              </a:rPr>
              <a:t> Compromisso com o desenvolvimento sustentável, em benefício da sociedade, da corporação e do meio ambiente.”</a:t>
            </a:r>
            <a:endParaRPr sz="2000">
              <a:solidFill>
                <a:schemeClr val="accent1"/>
              </a:solidFill>
              <a:latin typeface="Oswald"/>
              <a:ea typeface="Oswald"/>
              <a:cs typeface="Oswald"/>
              <a:sym typeface="Oswald"/>
            </a:endParaRPr>
          </a:p>
          <a:p>
            <a:pPr indent="0" lvl="0" marL="457200" rtl="0" algn="just">
              <a:lnSpc>
                <a:spcPct val="115000"/>
              </a:lnSpc>
              <a:spcBef>
                <a:spcPts val="1200"/>
              </a:spcBef>
              <a:spcAft>
                <a:spcPts val="0"/>
              </a:spcAft>
              <a:buNone/>
            </a:pPr>
            <a:r>
              <a:t/>
            </a:r>
            <a:endParaRPr sz="2000">
              <a:solidFill>
                <a:schemeClr val="dk1"/>
              </a:solidFill>
              <a:latin typeface="Oswald"/>
              <a:ea typeface="Oswald"/>
              <a:cs typeface="Oswald"/>
              <a:sym typeface="Oswald"/>
            </a:endParaRPr>
          </a:p>
          <a:p>
            <a:pPr indent="0" lvl="0" marL="0" rtl="0" algn="l">
              <a:lnSpc>
                <a:spcPct val="200000"/>
              </a:lnSpc>
              <a:spcBef>
                <a:spcPts val="1200"/>
              </a:spcBef>
              <a:spcAft>
                <a:spcPts val="0"/>
              </a:spcAft>
              <a:buNone/>
            </a:pPr>
            <a:r>
              <a:t/>
            </a:r>
            <a:endParaRPr sz="2000">
              <a:solidFill>
                <a:schemeClr val="dk1"/>
              </a:solidFill>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346" name="Google Shape;346;p46"/>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347" name="Google Shape;347;p46"/>
          <p:cNvSpPr txBox="1"/>
          <p:nvPr/>
        </p:nvSpPr>
        <p:spPr>
          <a:xfrm>
            <a:off x="152400" y="319575"/>
            <a:ext cx="60084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REVISÃO: Proposta de Valores  </a:t>
            </a:r>
            <a:endParaRPr b="0" i="0" sz="1200" u="none" cap="none" strike="noStrike">
              <a:solidFill>
                <a:srgbClr val="000000"/>
              </a:solidFill>
              <a:latin typeface="Arial"/>
              <a:ea typeface="Arial"/>
              <a:cs typeface="Arial"/>
              <a:sym typeface="Arial"/>
            </a:endParaRPr>
          </a:p>
        </p:txBody>
      </p:sp>
      <p:sp>
        <p:nvSpPr>
          <p:cNvPr id="348" name="Google Shape;348;p46"/>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349" name="Google Shape;349;p46"/>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350" name="Google Shape;350;p46"/>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354" name="Shape 354"/>
        <p:cNvGrpSpPr/>
        <p:nvPr/>
      </p:nvGrpSpPr>
      <p:grpSpPr>
        <a:xfrm>
          <a:off x="0" y="0"/>
          <a:ext cx="0" cy="0"/>
          <a:chOff x="0" y="0"/>
          <a:chExt cx="0" cy="0"/>
        </a:xfrm>
      </p:grpSpPr>
      <p:sp>
        <p:nvSpPr>
          <p:cNvPr id="355" name="Google Shape;355;p47"/>
          <p:cNvSpPr/>
          <p:nvPr/>
        </p:nvSpPr>
        <p:spPr>
          <a:xfrm>
            <a:off x="-10614" y="-7961"/>
            <a:ext cx="9156000" cy="5171100"/>
          </a:xfrm>
          <a:prstGeom prst="rect">
            <a:avLst/>
          </a:prstGeom>
          <a:solidFill>
            <a:srgbClr val="FFFFFF"/>
          </a:solidFill>
          <a:ln>
            <a:noFill/>
          </a:ln>
        </p:spPr>
        <p:txBody>
          <a:bodyPr anchorCtr="0" anchor="t" bIns="78575" lIns="78575" spcFirstLastPara="1" rIns="78575" wrap="square" tIns="78575">
            <a:noAutofit/>
          </a:bodyPr>
          <a:lstStyle/>
          <a:p>
            <a:pPr indent="0" lvl="0" marL="457200" rtl="0" algn="l">
              <a:lnSpc>
                <a:spcPct val="115000"/>
              </a:lnSpc>
              <a:spcBef>
                <a:spcPts val="0"/>
              </a:spcBef>
              <a:spcAft>
                <a:spcPts val="0"/>
              </a:spcAft>
              <a:buNone/>
            </a:pPr>
            <a:r>
              <a:t/>
            </a:r>
            <a:endParaRPr sz="1700">
              <a:highlight>
                <a:schemeClr val="lt1"/>
              </a:highlight>
            </a:endParaRPr>
          </a:p>
          <a:p>
            <a:pPr indent="0" lvl="0" marL="0" rtl="0" algn="l">
              <a:lnSpc>
                <a:spcPct val="200000"/>
              </a:lnSpc>
              <a:spcBef>
                <a:spcPts val="1200"/>
              </a:spcBef>
              <a:spcAft>
                <a:spcPts val="0"/>
              </a:spcAft>
              <a:buNone/>
            </a:pPr>
            <a:r>
              <a:t/>
            </a:r>
            <a:endParaRPr sz="2000">
              <a:highlight>
                <a:schemeClr val="lt1"/>
              </a:highlight>
              <a:latin typeface="Oswald"/>
              <a:ea typeface="Oswald"/>
              <a:cs typeface="Oswald"/>
              <a:sym typeface="Oswald"/>
            </a:endParaRPr>
          </a:p>
          <a:p>
            <a:pPr indent="0" lvl="0" marL="0" rtl="0" algn="l">
              <a:lnSpc>
                <a:spcPct val="100000"/>
              </a:lnSpc>
              <a:spcBef>
                <a:spcPts val="1200"/>
              </a:spcBef>
              <a:spcAft>
                <a:spcPts val="0"/>
              </a:spcAft>
              <a:buNone/>
            </a:pPr>
            <a:r>
              <a:rPr lang="pt-BR" sz="2000">
                <a:solidFill>
                  <a:schemeClr val="dk1"/>
                </a:solidFill>
                <a:highlight>
                  <a:schemeClr val="lt1"/>
                </a:highlight>
                <a:latin typeface="Oswald"/>
                <a:ea typeface="Oswald"/>
                <a:cs typeface="Oswald"/>
                <a:sym typeface="Oswald"/>
              </a:rPr>
              <a:t>                    “</a:t>
            </a:r>
            <a:r>
              <a:rPr lang="pt-BR" sz="2000">
                <a:solidFill>
                  <a:schemeClr val="dk1"/>
                </a:solidFill>
                <a:latin typeface="Oswald"/>
                <a:ea typeface="Oswald"/>
                <a:cs typeface="Oswald"/>
                <a:sym typeface="Oswald"/>
              </a:rPr>
              <a:t>Proteger a vida, o meio ambiente e o patrimônio.”</a:t>
            </a:r>
            <a:endParaRPr sz="2000">
              <a:solidFill>
                <a:schemeClr val="dk1"/>
              </a:solidFill>
              <a:latin typeface="Oswald"/>
              <a:ea typeface="Oswald"/>
              <a:cs typeface="Oswald"/>
              <a:sym typeface="Oswald"/>
            </a:endParaRPr>
          </a:p>
          <a:p>
            <a:pPr indent="0" lvl="0" marL="0" rtl="0" algn="l">
              <a:lnSpc>
                <a:spcPct val="100000"/>
              </a:lnSpc>
              <a:spcBef>
                <a:spcPts val="1200"/>
              </a:spcBef>
              <a:spcAft>
                <a:spcPts val="0"/>
              </a:spcAft>
              <a:buNone/>
            </a:pPr>
            <a:r>
              <a:t/>
            </a:r>
            <a:endParaRPr sz="2000">
              <a:solidFill>
                <a:schemeClr val="dk1"/>
              </a:solidFill>
              <a:highlight>
                <a:schemeClr val="lt1"/>
              </a:highlight>
              <a:latin typeface="Oswald"/>
              <a:ea typeface="Oswald"/>
              <a:cs typeface="Oswald"/>
              <a:sym typeface="Oswald"/>
            </a:endParaRPr>
          </a:p>
          <a:p>
            <a:pPr indent="0" lvl="0" marL="1371600" rtl="0" algn="l">
              <a:lnSpc>
                <a:spcPct val="100000"/>
              </a:lnSpc>
              <a:spcBef>
                <a:spcPts val="1200"/>
              </a:spcBef>
              <a:spcAft>
                <a:spcPts val="0"/>
              </a:spcAft>
              <a:buNone/>
            </a:pPr>
            <a:r>
              <a:rPr lang="pt-BR" sz="2000">
                <a:solidFill>
                  <a:schemeClr val="dk1"/>
                </a:solidFill>
                <a:highlight>
                  <a:schemeClr val="lt1"/>
                </a:highlight>
                <a:latin typeface="Oswald"/>
                <a:ea typeface="Oswald"/>
                <a:cs typeface="Oswald"/>
                <a:sym typeface="Oswald"/>
              </a:rPr>
              <a:t>“</a:t>
            </a:r>
            <a:r>
              <a:rPr lang="pt-BR" sz="2000">
                <a:solidFill>
                  <a:schemeClr val="dk1"/>
                </a:solidFill>
                <a:latin typeface="Oswald"/>
                <a:ea typeface="Oswald"/>
                <a:cs typeface="Oswald"/>
                <a:sym typeface="Oswald"/>
              </a:rPr>
              <a:t>Até 2029, atuar com inovação e eficiência na prestação de serviços de bombeiro à            população alagoana.</a:t>
            </a:r>
            <a:r>
              <a:rPr lang="pt-BR" sz="2000">
                <a:solidFill>
                  <a:schemeClr val="dk1"/>
                </a:solidFill>
                <a:highlight>
                  <a:schemeClr val="lt1"/>
                </a:highlight>
                <a:latin typeface="Oswald"/>
                <a:ea typeface="Oswald"/>
                <a:cs typeface="Oswald"/>
                <a:sym typeface="Oswald"/>
              </a:rPr>
              <a:t>”</a:t>
            </a:r>
            <a:endParaRPr sz="2000">
              <a:solidFill>
                <a:schemeClr val="dk1"/>
              </a:solidFill>
              <a:highlight>
                <a:schemeClr val="lt1"/>
              </a:highlight>
              <a:latin typeface="Oswald"/>
              <a:ea typeface="Oswald"/>
              <a:cs typeface="Oswald"/>
              <a:sym typeface="Oswald"/>
            </a:endParaRPr>
          </a:p>
          <a:p>
            <a:pPr indent="0" lvl="0" marL="0" rtl="0" algn="l">
              <a:lnSpc>
                <a:spcPct val="1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457200" lvl="0" marL="914400" rtl="0" algn="l">
              <a:lnSpc>
                <a:spcPct val="100000"/>
              </a:lnSpc>
              <a:spcBef>
                <a:spcPts val="1200"/>
              </a:spcBef>
              <a:spcAft>
                <a:spcPts val="0"/>
              </a:spcAft>
              <a:buNone/>
            </a:pPr>
            <a:r>
              <a:rPr lang="pt-BR" sz="2000">
                <a:solidFill>
                  <a:schemeClr val="dk1"/>
                </a:solidFill>
                <a:highlight>
                  <a:schemeClr val="lt1"/>
                </a:highlight>
                <a:latin typeface="Oswald"/>
                <a:ea typeface="Oswald"/>
                <a:cs typeface="Oswald"/>
                <a:sym typeface="Oswald"/>
              </a:rPr>
              <a:t>“</a:t>
            </a:r>
            <a:r>
              <a:rPr lang="pt-BR" sz="2000">
                <a:solidFill>
                  <a:schemeClr val="dk1"/>
                </a:solidFill>
                <a:latin typeface="Oswald"/>
                <a:ea typeface="Oswald"/>
                <a:cs typeface="Oswald"/>
                <a:sym typeface="Oswald"/>
              </a:rPr>
              <a:t>Comprometimento, Coragem, Disciplina, Ética, Hierarquia, Profissionalismo, Tradição, Transparência, Respeito à vida e Responsabilidade socioambiental.</a:t>
            </a:r>
            <a:r>
              <a:rPr lang="pt-BR" sz="2000">
                <a:solidFill>
                  <a:schemeClr val="dk1"/>
                </a:solidFill>
                <a:highlight>
                  <a:schemeClr val="lt1"/>
                </a:highlight>
                <a:latin typeface="Oswald"/>
                <a:ea typeface="Oswald"/>
                <a:cs typeface="Oswald"/>
                <a:sym typeface="Oswald"/>
              </a:rPr>
              <a:t>”   </a:t>
            </a: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rtl="0" algn="l">
              <a:lnSpc>
                <a:spcPct val="200000"/>
              </a:lnSpc>
              <a:spcBef>
                <a:spcPts val="1200"/>
              </a:spcBef>
              <a:spcAft>
                <a:spcPts val="0"/>
              </a:spcAft>
              <a:buNone/>
            </a:pPr>
            <a:r>
              <a:rPr lang="pt-BR" sz="2000">
                <a:highlight>
                  <a:schemeClr val="lt1"/>
                </a:highlight>
                <a:latin typeface="Oswald"/>
                <a:ea typeface="Oswald"/>
                <a:cs typeface="Oswald"/>
                <a:sym typeface="Oswald"/>
              </a:rPr>
              <a:t> </a:t>
            </a:r>
            <a:endParaRPr sz="2000">
              <a:highlight>
                <a:schemeClr val="lt1"/>
              </a:highlight>
              <a:latin typeface="Oswald"/>
              <a:ea typeface="Oswald"/>
              <a:cs typeface="Oswald"/>
              <a:sym typeface="Oswald"/>
            </a:endParaRPr>
          </a:p>
          <a:p>
            <a:pPr indent="0" lvl="0" marL="0" marR="0" rtl="0" algn="l">
              <a:lnSpc>
                <a:spcPct val="100000"/>
              </a:lnSpc>
              <a:spcBef>
                <a:spcPts val="1200"/>
              </a:spcBef>
              <a:spcAft>
                <a:spcPts val="0"/>
              </a:spcAft>
              <a:buClr>
                <a:srgbClr val="000000"/>
              </a:buClr>
              <a:buSzPts val="1200"/>
              <a:buFont typeface="Arial"/>
              <a:buNone/>
            </a:pPr>
            <a:r>
              <a:t/>
            </a:r>
            <a:endParaRPr sz="1200"/>
          </a:p>
        </p:txBody>
      </p:sp>
      <p:sp>
        <p:nvSpPr>
          <p:cNvPr id="356" name="Google Shape;356;p47"/>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357" name="Google Shape;357;p47"/>
          <p:cNvSpPr txBox="1"/>
          <p:nvPr/>
        </p:nvSpPr>
        <p:spPr>
          <a:xfrm>
            <a:off x="152400" y="319575"/>
            <a:ext cx="8860200" cy="507900"/>
          </a:xfrm>
          <a:prstGeom prst="rect">
            <a:avLst/>
          </a:prstGeom>
          <a:noFill/>
          <a:ln>
            <a:noFill/>
          </a:ln>
        </p:spPr>
        <p:txBody>
          <a:bodyPr anchorCtr="0" anchor="t" bIns="0" lIns="0" spcFirstLastPara="1" rIns="0" wrap="square" tIns="0">
            <a:spAutoFit/>
          </a:bodyPr>
          <a:lstStyle/>
          <a:p>
            <a:pPr indent="0" lvl="0" marL="0" rtl="0" algn="l">
              <a:lnSpc>
                <a:spcPct val="110000"/>
              </a:lnSpc>
              <a:spcBef>
                <a:spcPts val="0"/>
              </a:spcBef>
              <a:spcAft>
                <a:spcPts val="0"/>
              </a:spcAft>
              <a:buClr>
                <a:schemeClr val="dk1"/>
              </a:buClr>
              <a:buSzPts val="3300"/>
              <a:buFont typeface="Arial"/>
              <a:buNone/>
            </a:pPr>
            <a:r>
              <a:rPr b="1" lang="pt-BR" sz="3300">
                <a:solidFill>
                  <a:srgbClr val="DC1B13"/>
                </a:solidFill>
                <a:latin typeface="Oswald"/>
                <a:ea typeface="Oswald"/>
                <a:cs typeface="Oswald"/>
                <a:sym typeface="Oswald"/>
              </a:rPr>
              <a:t>Identidade Organizacional</a:t>
            </a:r>
            <a:r>
              <a:rPr b="1" lang="pt-BR" sz="3300">
                <a:solidFill>
                  <a:srgbClr val="DC1B13"/>
                </a:solidFill>
                <a:latin typeface="Oswald"/>
                <a:ea typeface="Oswald"/>
                <a:cs typeface="Oswald"/>
                <a:sym typeface="Oswald"/>
              </a:rPr>
              <a:t> (2025-2029)</a:t>
            </a:r>
            <a:endParaRPr b="0" i="0" sz="1200" u="none" cap="none" strike="noStrike">
              <a:solidFill>
                <a:srgbClr val="000000"/>
              </a:solidFill>
              <a:latin typeface="Arial"/>
              <a:ea typeface="Arial"/>
              <a:cs typeface="Arial"/>
              <a:sym typeface="Arial"/>
            </a:endParaRPr>
          </a:p>
        </p:txBody>
      </p:sp>
      <p:sp>
        <p:nvSpPr>
          <p:cNvPr id="358" name="Google Shape;358;p47"/>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359" name="Google Shape;359;p47"/>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360" name="Google Shape;360;p47"/>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pic>
        <p:nvPicPr>
          <p:cNvPr id="361" name="Google Shape;361;p47"/>
          <p:cNvPicPr preferRelativeResize="0"/>
          <p:nvPr/>
        </p:nvPicPr>
        <p:blipFill>
          <a:blip r:embed="rId3">
            <a:alphaModFix/>
          </a:blip>
          <a:stretch>
            <a:fillRect/>
          </a:stretch>
        </p:blipFill>
        <p:spPr>
          <a:xfrm>
            <a:off x="152400" y="1066800"/>
            <a:ext cx="1028700" cy="895350"/>
          </a:xfrm>
          <a:prstGeom prst="rect">
            <a:avLst/>
          </a:prstGeom>
          <a:noFill/>
          <a:ln>
            <a:noFill/>
          </a:ln>
        </p:spPr>
      </p:pic>
      <p:pic>
        <p:nvPicPr>
          <p:cNvPr id="362" name="Google Shape;362;p47"/>
          <p:cNvPicPr preferRelativeResize="0"/>
          <p:nvPr/>
        </p:nvPicPr>
        <p:blipFill>
          <a:blip r:embed="rId4">
            <a:alphaModFix/>
          </a:blip>
          <a:stretch>
            <a:fillRect/>
          </a:stretch>
        </p:blipFill>
        <p:spPr>
          <a:xfrm>
            <a:off x="152400" y="2057400"/>
            <a:ext cx="1038225" cy="838200"/>
          </a:xfrm>
          <a:prstGeom prst="rect">
            <a:avLst/>
          </a:prstGeom>
          <a:noFill/>
          <a:ln>
            <a:noFill/>
          </a:ln>
        </p:spPr>
      </p:pic>
      <p:pic>
        <p:nvPicPr>
          <p:cNvPr id="363" name="Google Shape;363;p47"/>
          <p:cNvPicPr preferRelativeResize="0"/>
          <p:nvPr/>
        </p:nvPicPr>
        <p:blipFill>
          <a:blip r:embed="rId5">
            <a:alphaModFix/>
          </a:blip>
          <a:stretch>
            <a:fillRect/>
          </a:stretch>
        </p:blipFill>
        <p:spPr>
          <a:xfrm>
            <a:off x="198313" y="3172725"/>
            <a:ext cx="793990" cy="895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1B13"/>
        </a:solidFill>
      </p:bgPr>
    </p:bg>
    <p:spTree>
      <p:nvGrpSpPr>
        <p:cNvPr id="367" name="Shape 367"/>
        <p:cNvGrpSpPr/>
        <p:nvPr/>
      </p:nvGrpSpPr>
      <p:grpSpPr>
        <a:xfrm>
          <a:off x="0" y="0"/>
          <a:ext cx="0" cy="0"/>
          <a:chOff x="0" y="0"/>
          <a:chExt cx="0" cy="0"/>
        </a:xfrm>
      </p:grpSpPr>
      <p:sp>
        <p:nvSpPr>
          <p:cNvPr id="368" name="Google Shape;368;p48"/>
          <p:cNvSpPr/>
          <p:nvPr/>
        </p:nvSpPr>
        <p:spPr>
          <a:xfrm>
            <a:off x="-10614" y="-7961"/>
            <a:ext cx="9156000" cy="5171100"/>
          </a:xfrm>
          <a:prstGeom prst="rect">
            <a:avLst/>
          </a:prstGeom>
          <a:solidFill>
            <a:srgbClr val="FFFFFF"/>
          </a:solidFill>
          <a:ln>
            <a:noFill/>
          </a:ln>
        </p:spPr>
        <p:txBody>
          <a:bodyPr anchorCtr="0" anchor="ctr" bIns="78575" lIns="78575" spcFirstLastPara="1" rIns="78575" wrap="square" tIns="78575">
            <a:noAutofit/>
          </a:bodyPr>
          <a:lstStyle/>
          <a:p>
            <a:pPr indent="0" lvl="0" marL="0" rtl="0" algn="l">
              <a:lnSpc>
                <a:spcPct val="100000"/>
              </a:lnSpc>
              <a:spcBef>
                <a:spcPts val="0"/>
              </a:spcBef>
              <a:spcAft>
                <a:spcPts val="0"/>
              </a:spcAft>
              <a:buClr>
                <a:schemeClr val="dk1"/>
              </a:buClr>
              <a:buSzPts val="1100"/>
              <a:buFont typeface="Arial"/>
              <a:buNone/>
            </a:pPr>
            <a:r>
              <a:rPr lang="pt-BR" sz="1800">
                <a:solidFill>
                  <a:schemeClr val="dk1"/>
                </a:solidFill>
                <a:latin typeface="Oswald"/>
                <a:ea typeface="Oswald"/>
                <a:cs typeface="Oswald"/>
                <a:sym typeface="Oswald"/>
              </a:rPr>
              <a:t> </a:t>
            </a:r>
            <a:endParaRPr sz="1800">
              <a:solidFill>
                <a:schemeClr val="dk1"/>
              </a:solidFill>
              <a:latin typeface="Oswald"/>
              <a:ea typeface="Oswald"/>
              <a:cs typeface="Oswald"/>
              <a:sym typeface="Oswald"/>
            </a:endParaRPr>
          </a:p>
          <a:p>
            <a:pPr indent="0" lvl="0" marL="0" rtl="0" algn="l">
              <a:lnSpc>
                <a:spcPct val="100000"/>
              </a:lnSpc>
              <a:spcBef>
                <a:spcPts val="1200"/>
              </a:spcBef>
              <a:spcAft>
                <a:spcPts val="0"/>
              </a:spcAft>
              <a:buClr>
                <a:schemeClr val="dk1"/>
              </a:buClr>
              <a:buSzPts val="1100"/>
              <a:buFont typeface="Arial"/>
              <a:buNone/>
            </a:pPr>
            <a:r>
              <a:rPr lang="pt-BR" sz="1800">
                <a:solidFill>
                  <a:schemeClr val="dk1"/>
                </a:solidFill>
                <a:latin typeface="Oswald"/>
                <a:ea typeface="Oswald"/>
                <a:cs typeface="Oswald"/>
                <a:sym typeface="Oswald"/>
              </a:rPr>
              <a:t>ALBERT, S.; WHETTEN, D. A. Organizational identity. </a:t>
            </a:r>
            <a:r>
              <a:rPr i="1" lang="pt-BR" sz="1800">
                <a:solidFill>
                  <a:schemeClr val="dk1"/>
                </a:solidFill>
                <a:latin typeface="Oswald"/>
                <a:ea typeface="Oswald"/>
                <a:cs typeface="Oswald"/>
                <a:sym typeface="Oswald"/>
              </a:rPr>
              <a:t>Research in Organizational Behavior</a:t>
            </a:r>
            <a:r>
              <a:rPr lang="pt-BR" sz="1800">
                <a:solidFill>
                  <a:schemeClr val="dk1"/>
                </a:solidFill>
                <a:latin typeface="Oswald"/>
                <a:ea typeface="Oswald"/>
                <a:cs typeface="Oswald"/>
                <a:sym typeface="Oswald"/>
              </a:rPr>
              <a:t>, v. 7, p. 263–295, 1985.</a:t>
            </a:r>
            <a:endParaRPr sz="1800">
              <a:solidFill>
                <a:schemeClr val="dk1"/>
              </a:solidFill>
              <a:latin typeface="Oswald"/>
              <a:ea typeface="Oswald"/>
              <a:cs typeface="Oswald"/>
              <a:sym typeface="Oswald"/>
            </a:endParaRPr>
          </a:p>
          <a:p>
            <a:pPr indent="0" lvl="0" marL="0" rtl="0" algn="l">
              <a:lnSpc>
                <a:spcPct val="100000"/>
              </a:lnSpc>
              <a:spcBef>
                <a:spcPts val="1200"/>
              </a:spcBef>
              <a:spcAft>
                <a:spcPts val="0"/>
              </a:spcAft>
              <a:buClr>
                <a:schemeClr val="dk1"/>
              </a:buClr>
              <a:buSzPts val="1100"/>
              <a:buFont typeface="Arial"/>
              <a:buNone/>
            </a:pPr>
            <a:r>
              <a:rPr lang="pt-BR" sz="1800">
                <a:solidFill>
                  <a:schemeClr val="dk1"/>
                </a:solidFill>
                <a:latin typeface="Oswald"/>
                <a:ea typeface="Oswald"/>
                <a:cs typeface="Oswald"/>
                <a:sym typeface="Oswald"/>
              </a:rPr>
              <a:t>CBMMS. Portaria nº 002/BM-6, de 18 dedezembro DE 2012.</a:t>
            </a:r>
            <a:endParaRPr sz="1800">
              <a:solidFill>
                <a:schemeClr val="dk1"/>
              </a:solidFill>
              <a:latin typeface="Oswald"/>
              <a:ea typeface="Oswald"/>
              <a:cs typeface="Oswald"/>
              <a:sym typeface="Oswald"/>
            </a:endParaRPr>
          </a:p>
          <a:p>
            <a:pPr indent="0" lvl="0" marL="0" rtl="0" algn="l">
              <a:lnSpc>
                <a:spcPct val="100000"/>
              </a:lnSpc>
              <a:spcBef>
                <a:spcPts val="1200"/>
              </a:spcBef>
              <a:spcAft>
                <a:spcPts val="0"/>
              </a:spcAft>
              <a:buClr>
                <a:schemeClr val="dk1"/>
              </a:buClr>
              <a:buSzPts val="1100"/>
              <a:buFont typeface="Arial"/>
              <a:buNone/>
            </a:pPr>
            <a:r>
              <a:rPr lang="pt-BR" sz="1800">
                <a:solidFill>
                  <a:schemeClr val="dk1"/>
                </a:solidFill>
                <a:latin typeface="Oswald"/>
                <a:ea typeface="Oswald"/>
                <a:cs typeface="Oswald"/>
                <a:sym typeface="Oswald"/>
              </a:rPr>
              <a:t>KAPLAN, R.; NORTON, D. The execution premium: Linking strategy to operations for competitive advantage. Boston: Harvard Business School Press, 2008. </a:t>
            </a:r>
            <a:endParaRPr sz="1800">
              <a:solidFill>
                <a:schemeClr val="dk1"/>
              </a:solidFill>
              <a:latin typeface="Oswald"/>
              <a:ea typeface="Oswald"/>
              <a:cs typeface="Oswald"/>
              <a:sym typeface="Oswald"/>
            </a:endParaRPr>
          </a:p>
          <a:p>
            <a:pPr indent="0" lvl="0" marL="0" rtl="0" algn="l">
              <a:lnSpc>
                <a:spcPct val="100000"/>
              </a:lnSpc>
              <a:spcBef>
                <a:spcPts val="1200"/>
              </a:spcBef>
              <a:spcAft>
                <a:spcPts val="0"/>
              </a:spcAft>
              <a:buClr>
                <a:schemeClr val="dk1"/>
              </a:buClr>
              <a:buSzPts val="1100"/>
              <a:buFont typeface="Arial"/>
              <a:buNone/>
            </a:pPr>
            <a:r>
              <a:rPr lang="pt-BR" sz="1800">
                <a:solidFill>
                  <a:schemeClr val="dk1"/>
                </a:solidFill>
                <a:latin typeface="Oswald"/>
                <a:ea typeface="Oswald"/>
                <a:cs typeface="Oswald"/>
                <a:sym typeface="Oswald"/>
              </a:rPr>
              <a:t>MELEWAR, T. C.; KARAOSMANOGLU, E. Seven dimensions of corporate identity: a categorization from the practitioners’ perspectives. European Journal of Marketing, v. 40,n. 7/8, p. 846-869, 2006.</a:t>
            </a:r>
            <a:endParaRPr sz="1800">
              <a:solidFill>
                <a:schemeClr val="dk1"/>
              </a:solidFill>
              <a:latin typeface="Oswald"/>
              <a:ea typeface="Oswald"/>
              <a:cs typeface="Oswald"/>
              <a:sym typeface="Oswald"/>
            </a:endParaRPr>
          </a:p>
          <a:p>
            <a:pPr indent="0" lvl="0" marL="0" rtl="0" algn="l">
              <a:lnSpc>
                <a:spcPct val="100000"/>
              </a:lnSpc>
              <a:spcBef>
                <a:spcPts val="1200"/>
              </a:spcBef>
              <a:spcAft>
                <a:spcPts val="1200"/>
              </a:spcAft>
              <a:buClr>
                <a:schemeClr val="dk1"/>
              </a:buClr>
              <a:buSzPts val="1100"/>
              <a:buFont typeface="Arial"/>
              <a:buNone/>
            </a:pPr>
            <a:r>
              <a:rPr lang="pt-BR" sz="1800">
                <a:solidFill>
                  <a:schemeClr val="dk1"/>
                </a:solidFill>
                <a:latin typeface="Oswald"/>
                <a:ea typeface="Oswald"/>
                <a:cs typeface="Oswald"/>
                <a:sym typeface="Oswald"/>
              </a:rPr>
              <a:t>SANTA CATARINA. Secretaria de Integridade e Governança. </a:t>
            </a:r>
            <a:r>
              <a:rPr i="1" lang="pt-BR" sz="1800">
                <a:solidFill>
                  <a:schemeClr val="dk1"/>
                </a:solidFill>
                <a:latin typeface="Oswald"/>
                <a:ea typeface="Oswald"/>
                <a:cs typeface="Oswald"/>
                <a:sym typeface="Oswald"/>
              </a:rPr>
              <a:t>Identidade e propósito organizacional: Programa de Integridade e Compliance</a:t>
            </a:r>
            <a:r>
              <a:rPr lang="pt-BR" sz="1800">
                <a:solidFill>
                  <a:schemeClr val="dk1"/>
                </a:solidFill>
                <a:latin typeface="Oswald"/>
                <a:ea typeface="Oswald"/>
                <a:cs typeface="Oswald"/>
                <a:sym typeface="Oswald"/>
              </a:rPr>
              <a:t>. E-book 02. Santa Catarina, 2019. Disponível em:</a:t>
            </a:r>
            <a:r>
              <a:rPr lang="pt-BR" sz="1800">
                <a:solidFill>
                  <a:schemeClr val="dk1"/>
                </a:solidFill>
                <a:uFill>
                  <a:noFill/>
                </a:uFill>
                <a:latin typeface="Oswald"/>
                <a:ea typeface="Oswald"/>
                <a:cs typeface="Oswald"/>
                <a:sym typeface="Oswald"/>
                <a:hlinkClick r:id="rId3">
                  <a:extLst>
                    <a:ext uri="{A12FA001-AC4F-418D-AE19-62706E023703}">
                      <ahyp:hlinkClr val="tx"/>
                    </a:ext>
                  </a:extLst>
                </a:hlinkClick>
              </a:rPr>
              <a:t> </a:t>
            </a:r>
            <a:r>
              <a:rPr lang="pt-BR" sz="1800" u="sng">
                <a:solidFill>
                  <a:schemeClr val="hlink"/>
                </a:solidFill>
                <a:latin typeface="Oswald"/>
                <a:ea typeface="Oswald"/>
                <a:cs typeface="Oswald"/>
                <a:sym typeface="Oswald"/>
                <a:hlinkClick r:id="rId4"/>
              </a:rPr>
              <a:t>https://www.sig.sc.gov.br</a:t>
            </a:r>
            <a:r>
              <a:rPr lang="pt-BR" sz="1800">
                <a:solidFill>
                  <a:schemeClr val="dk1"/>
                </a:solidFill>
                <a:latin typeface="Oswald"/>
                <a:ea typeface="Oswald"/>
                <a:cs typeface="Oswald"/>
                <a:sym typeface="Oswald"/>
              </a:rPr>
              <a:t>. Acesso em: 09 dez. 2024.</a:t>
            </a:r>
            <a:endParaRPr sz="1800">
              <a:solidFill>
                <a:schemeClr val="dk1"/>
              </a:solidFill>
              <a:latin typeface="Oswald"/>
              <a:ea typeface="Oswald"/>
              <a:cs typeface="Oswald"/>
              <a:sym typeface="Oswald"/>
            </a:endParaRPr>
          </a:p>
        </p:txBody>
      </p:sp>
      <p:sp>
        <p:nvSpPr>
          <p:cNvPr id="369" name="Google Shape;369;p48"/>
          <p:cNvSpPr/>
          <p:nvPr/>
        </p:nvSpPr>
        <p:spPr>
          <a:xfrm>
            <a:off x="152025" y="464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
        <p:nvSpPr>
          <p:cNvPr id="370" name="Google Shape;370;p48"/>
          <p:cNvSpPr txBox="1"/>
          <p:nvPr/>
        </p:nvSpPr>
        <p:spPr>
          <a:xfrm>
            <a:off x="152400" y="319575"/>
            <a:ext cx="4847700" cy="5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300"/>
              <a:buFont typeface="Arial"/>
              <a:buNone/>
            </a:pPr>
            <a:r>
              <a:rPr b="1" lang="pt-BR" sz="3300">
                <a:solidFill>
                  <a:srgbClr val="DC1B13"/>
                </a:solidFill>
                <a:latin typeface="Oswald"/>
                <a:ea typeface="Oswald"/>
                <a:cs typeface="Oswald"/>
                <a:sym typeface="Oswald"/>
              </a:rPr>
              <a:t>Referências bibliográficas</a:t>
            </a:r>
            <a:endParaRPr b="0" i="0" sz="1200" u="none" cap="none" strike="noStrike">
              <a:solidFill>
                <a:srgbClr val="000000"/>
              </a:solidFill>
              <a:latin typeface="Arial"/>
              <a:ea typeface="Arial"/>
              <a:cs typeface="Arial"/>
              <a:sym typeface="Arial"/>
            </a:endParaRPr>
          </a:p>
        </p:txBody>
      </p:sp>
      <p:sp>
        <p:nvSpPr>
          <p:cNvPr id="371" name="Google Shape;371;p48"/>
          <p:cNvSpPr txBox="1"/>
          <p:nvPr/>
        </p:nvSpPr>
        <p:spPr>
          <a:xfrm>
            <a:off x="547688" y="4878355"/>
            <a:ext cx="3241500" cy="153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DEZEMBRO DE</a:t>
            </a:r>
            <a:r>
              <a:rPr b="1" i="0" lang="pt-BR" sz="1000" u="none" cap="none" strike="noStrike">
                <a:solidFill>
                  <a:srgbClr val="DC1B13"/>
                </a:solidFill>
                <a:latin typeface="Oswald"/>
                <a:ea typeface="Oswald"/>
                <a:cs typeface="Oswald"/>
                <a:sym typeface="Oswald"/>
              </a:rPr>
              <a:t> 202</a:t>
            </a:r>
            <a:r>
              <a:rPr b="1" lang="pt-BR" sz="1000">
                <a:solidFill>
                  <a:srgbClr val="DC1B13"/>
                </a:solidFill>
                <a:latin typeface="Oswald"/>
                <a:ea typeface="Oswald"/>
                <a:cs typeface="Oswald"/>
                <a:sym typeface="Oswald"/>
              </a:rPr>
              <a:t>4</a:t>
            </a:r>
            <a:endParaRPr b="1" i="0" sz="1200" u="none" cap="none" strike="noStrike">
              <a:solidFill>
                <a:srgbClr val="DC1B13"/>
              </a:solidFill>
            </a:endParaRPr>
          </a:p>
        </p:txBody>
      </p:sp>
      <p:sp>
        <p:nvSpPr>
          <p:cNvPr id="372" name="Google Shape;372;p48"/>
          <p:cNvSpPr txBox="1"/>
          <p:nvPr/>
        </p:nvSpPr>
        <p:spPr>
          <a:xfrm>
            <a:off x="5536531" y="4802155"/>
            <a:ext cx="3048600" cy="1539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000"/>
              <a:buFont typeface="Arial"/>
              <a:buNone/>
            </a:pPr>
            <a:r>
              <a:rPr b="1" lang="pt-BR" sz="1000">
                <a:solidFill>
                  <a:srgbClr val="DC1B13"/>
                </a:solidFill>
                <a:latin typeface="Oswald"/>
                <a:ea typeface="Oswald"/>
                <a:cs typeface="Oswald"/>
                <a:sym typeface="Oswald"/>
              </a:rPr>
              <a:t>ASSESSORIA DE PLANEJAMENTO E ORÇAMENTO</a:t>
            </a:r>
            <a:endParaRPr b="1" i="0" sz="1200" u="none" cap="none" strike="noStrike">
              <a:solidFill>
                <a:srgbClr val="DC1B13"/>
              </a:solidFill>
            </a:endParaRPr>
          </a:p>
        </p:txBody>
      </p:sp>
      <p:sp>
        <p:nvSpPr>
          <p:cNvPr id="373" name="Google Shape;373;p48"/>
          <p:cNvSpPr/>
          <p:nvPr/>
        </p:nvSpPr>
        <p:spPr>
          <a:xfrm>
            <a:off x="152025" y="839988"/>
            <a:ext cx="8860221" cy="50619"/>
          </a:xfrm>
          <a:custGeom>
            <a:rect b="b" l="l" r="r" t="t"/>
            <a:pathLst>
              <a:path extrusionOk="0" h="63872" w="10739662">
                <a:moveTo>
                  <a:pt x="0" y="0"/>
                </a:moveTo>
                <a:lnTo>
                  <a:pt x="10739662" y="0"/>
                </a:lnTo>
                <a:lnTo>
                  <a:pt x="10739662" y="63872"/>
                </a:lnTo>
                <a:lnTo>
                  <a:pt x="0" y="63872"/>
                </a:lnTo>
                <a:close/>
              </a:path>
            </a:pathLst>
          </a:custGeom>
          <a:solidFill>
            <a:srgbClr val="DC1B13"/>
          </a:solidFill>
          <a:ln>
            <a:noFill/>
          </a:ln>
          <a:effectLst>
            <a:outerShdw blurRad="57150" rotWithShape="0" algn="bl" dir="5400000" dist="19050">
              <a:srgbClr val="000000">
                <a:alpha val="50000"/>
              </a:srgbClr>
            </a:outerShdw>
          </a:effectLst>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